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car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423160" cy="2423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65960"/>
            <a:ext cx="59436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4000" b="1">
                <a:solidFill>
                  <a:srgbClr val="233036"/>
                </a:solidFill>
                <a:latin typeface="Aptos"/>
              </a:defRPr>
            </a:pPr>
            <a:r>
              <a:t>SCARLET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770632"/>
            <a:ext cx="6675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0">
                <a:solidFill>
                  <a:srgbClr val="005C56"/>
                </a:solidFill>
                <a:latin typeface="Aptos"/>
              </a:defRPr>
            </a:pPr>
            <a:r>
              <a:t>SANS data reduction with a reproducible Python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56432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Project presentation and Jupyter Notebook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233672"/>
            <a:ext cx="1737360" cy="310896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288536"/>
            <a:ext cx="16459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C56"/>
                </a:solidFill>
                <a:latin typeface="Aptos"/>
              </a:defRPr>
            </a:pPr>
            <a:r>
              <a:t>NeXus / HDF5 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4233672"/>
            <a:ext cx="1207008" cy="310896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4288536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E88C7"/>
                </a:solidFill>
                <a:latin typeface="Aptos"/>
              </a:defRPr>
            </a:pPr>
            <a:r>
              <a:t>API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233672"/>
            <a:ext cx="1517904" cy="310896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4288536"/>
            <a:ext cx="142646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E86946"/>
                </a:solidFill>
                <a:latin typeface="Aptos"/>
              </a:defRPr>
            </a:pPr>
            <a:r>
              <a:t>Jupyter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097280"/>
            <a:ext cx="3520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517904"/>
            <a:ext cx="2743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400" b="1">
                <a:solidFill>
                  <a:srgbClr val="233036"/>
                </a:solidFill>
                <a:latin typeface="Aptos"/>
              </a:defRPr>
            </a:pPr>
            <a:r>
              <a:t>From raw data
to I(Q) curves</a:t>
            </a:r>
            <a:br/>
            <a: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560320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91440" cy="438912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688336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Raw instrument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310128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310128"/>
            <a:ext cx="91440" cy="438912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3438144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Workflow SCARLET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59936"/>
            <a:ext cx="2240280" cy="438912"/>
          </a:xfrm>
          <a:prstGeom prst="round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4059936"/>
            <a:ext cx="91440" cy="438912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4187952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233036"/>
                </a:solidFill>
                <a:latin typeface="Aptos"/>
              </a:defRPr>
            </a:pPr>
            <a:r>
              <a:t>Reduced I(Q)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36608" y="3008376"/>
            <a:ext cx="0" cy="274320"/>
          </a:xfrm>
          <a:prstGeom prst="line">
            <a:avLst/>
          </a:prstGeom>
          <a:ln w="25400">
            <a:solidFill>
              <a:srgbClr val="007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36608" y="3758184"/>
            <a:ext cx="0" cy="274320"/>
          </a:xfrm>
          <a:prstGeom prst="line">
            <a:avLst/>
          </a:prstGeom>
          <a:ln w="25400">
            <a:solidFill>
              <a:srgbClr val="007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6144768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v0.2.4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Why SCARLET?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A practical framework for SANS reduction across instruments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389888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38988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A common data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NeXus/HDF5 is the exchange format from conversion to reduced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389888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82296" cy="138988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Traceable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Runs, configurations, references, masks, and processing choices are collected in one WorkflowContext.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389888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138988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819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Notebook for the 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11680"/>
            <a:ext cx="308152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The tutorial makes every decision visible while the pipeline applies calculations consistently.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3375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05C56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03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0">
                <a:solidFill>
                  <a:srgbClr val="233036"/>
                </a:solidFill>
                <a:latin typeface="Aptos"/>
              </a:defRPr>
            </a:pPr>
            <a:r>
              <a:t>Keep the experimental context close to the data, then make reduction steps explicit and repeatable.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800600"/>
            <a:ext cx="10835640" cy="658368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01768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E88C7"/>
                </a:solidFill>
                <a:latin typeface="Aptos"/>
              </a:defRPr>
            </a:pPr>
            <a:r>
              <a:t>Raw files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67128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35808" y="5001768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05C56"/>
                </a:solidFill>
                <a:latin typeface="Aptos"/>
              </a:defRPr>
            </a:pPr>
            <a:r>
              <a:t>Context + references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500176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005C56"/>
                </a:solidFill>
                <a:latin typeface="Aptos"/>
              </a:defRPr>
            </a:pPr>
            <a:r>
              <a:t>Reduction pipeline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0416" y="5129784"/>
            <a:ext cx="649224" cy="0"/>
          </a:xfrm>
          <a:prstGeom prst="line">
            <a:avLst/>
          </a:prstGeom>
          <a:ln w="25400"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0" y="5001768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86946"/>
                </a:solidFill>
                <a:latin typeface="Aptos"/>
              </a:defRPr>
            </a:pPr>
            <a:r>
              <a:t>I(Q) + 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Project 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A small number of modules with clear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2542032" cy="210312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2542032" cy="10972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io/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Readers and converters
D11, SANS-LLB, SAM
NeXus access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389888"/>
            <a:ext cx="2542032" cy="210312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389888"/>
            <a:ext cx="2542032" cy="10972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workflow/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WorkflowContext
Run tables and configuration
Reduction pipelines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389888"/>
            <a:ext cx="2542032" cy="2103120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1389888"/>
            <a:ext cx="2542032" cy="10972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reduction/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Physical operations
Corrections, geometry
Integration and stitching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1389888"/>
            <a:ext cx="2542032" cy="2103120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9448" y="1389888"/>
            <a:ext cx="2542032" cy="109728"/>
          </a:xfrm>
          <a:prstGeom prst="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171907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schemas/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267712"/>
            <a:ext cx="2057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NeXus profiles
Validation rules
Portable data contracts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23360"/>
            <a:ext cx="10863072" cy="1517904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7024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User entry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224528"/>
            <a:ext cx="1417320" cy="310896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279392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E88C7"/>
                </a:solidFill>
                <a:latin typeface="Aptos"/>
              </a:defRPr>
            </a:pPr>
            <a:r>
              <a:t>scarlet convert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4224528"/>
            <a:ext cx="1417320" cy="310896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79392"/>
            <a:ext cx="1325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233036"/>
                </a:solidFill>
                <a:latin typeface="Aptos"/>
              </a:defRPr>
            </a:pPr>
            <a:r>
              <a:t>scarlet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224528"/>
            <a:ext cx="1508760" cy="310896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79392"/>
            <a:ext cx="14173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005C56"/>
                </a:solidFill>
                <a:latin typeface="Aptos"/>
              </a:defRPr>
            </a:pPr>
            <a:r>
              <a:t>scarlet notebook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224528"/>
            <a:ext cx="1325880" cy="310896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279392"/>
            <a:ext cx="12344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E86946"/>
                </a:solidFill>
                <a:latin typeface="Aptos"/>
              </a:defRPr>
            </a:pPr>
            <a:r>
              <a:t>scarlet 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The notebook is the main interactive route for reduction; the CLI and viewer complement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WorkflowContext is the control centre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It joins experimental metadata, files, and reduction choices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2148840"/>
            <a:ext cx="3401568" cy="1463040"/>
          </a:xfrm>
          <a:prstGeom prst="roundRect">
            <a:avLst/>
          </a:prstGeom>
          <a:solidFill>
            <a:srgbClr val="E0F3F0"/>
          </a:solidFill>
          <a:ln w="1778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2542032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300" b="1">
                <a:solidFill>
                  <a:srgbClr val="005C56"/>
                </a:solidFill>
                <a:latin typeface="Aptos"/>
              </a:defRPr>
            </a:pPr>
            <a:r>
              <a:t>WorkflowContext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962656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0">
                <a:solidFill>
                  <a:srgbClr val="5E6C70"/>
                </a:solidFill>
                <a:latin typeface="Aptos"/>
              </a:defRPr>
            </a:pPr>
            <a:r>
              <a:t>single source of workflow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444752"/>
            <a:ext cx="2834640" cy="1143000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62763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1947672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sample, water, dark</a:t>
            </a:r>
            <a:br/>
            <a:r>
              <a:t>empty cell, beam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160520"/>
            <a:ext cx="2834640" cy="1143000"/>
          </a:xfrm>
          <a:prstGeom prst="roundRect">
            <a:avLst/>
          </a:prstGeom>
          <a:solidFill>
            <a:srgbClr val="E7F2FA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434340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Configurations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4663440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distance, wavelength
beam centre, ROI</a:t>
            </a:r>
            <a:br/>
            <a: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444752"/>
            <a:ext cx="2834640" cy="1143000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1627632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1947672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transmission source
flatfield source</a:t>
            </a:r>
            <a:br/>
            <a: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4160520"/>
            <a:ext cx="2834640" cy="1143000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4343400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663440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masks, NeXus outputs
I(Q) text files</a:t>
            </a:r>
            <a:br/>
            <a: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011680"/>
            <a:ext cx="704088" cy="512064"/>
          </a:xfrm>
          <a:prstGeom prst="line">
            <a:avLst/>
          </a:prstGeom>
          <a:ln w="25400">
            <a:solidFill>
              <a:srgbClr val="2E8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11880" y="3255264"/>
            <a:ext cx="704088" cy="1316736"/>
          </a:xfrm>
          <a:prstGeom prst="line">
            <a:avLst/>
          </a:prstGeom>
          <a:ln w="25400">
            <a:solidFill>
              <a:srgbClr val="2E8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827264" y="2011680"/>
            <a:ext cx="420624" cy="512064"/>
          </a:xfrm>
          <a:prstGeom prst="line">
            <a:avLst/>
          </a:prstGeom>
          <a:ln w="25400">
            <a:solidFill>
              <a:srgbClr val="E86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27264" y="3255264"/>
            <a:ext cx="420624" cy="1316736"/>
          </a:xfrm>
          <a:prstGeom prst="line">
            <a:avLst/>
          </a:prstGeom>
          <a:ln w="25400">
            <a:solidFill>
              <a:srgbClr val="E86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733288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005C56"/>
                </a:solidFill>
                <a:latin typeface="Aptos"/>
              </a:defRPr>
            </a:pPr>
            <a:r>
              <a:t>Saving and reloading workflow.nxs makes it possible to resume a reduction session.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1: initialise the experiment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Start from the raw directory and generate a structured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9888"/>
            <a:ext cx="4983480" cy="422452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4581144" cy="3895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from scarlet.workflow.context import \</a:t>
            </a:r>
            <a:br/>
            <a:r>
              <a:t>    initialize_workflow_context_from_raw_directory</a:t>
            </a:r>
            <a:br/>
            <a:br/>
            <a:r>
              <a:t>w = initialize_workflow_context_from_raw_directory(</a:t>
            </a:r>
            <a:br/>
            <a:r>
              <a:t>    RAW_DIR,</a:t>
            </a:r>
            <a:br/>
            <a:r>
              <a:t>    instrument_name='sansllb',</a:t>
            </a:r>
            <a:br/>
            <a:r>
              <a:t>    transmission_strategy='opaque_beamstop',</a:t>
            </a:r>
            <a:br/>
            <a:r>
              <a:t>    output_dir=OUTPUT_DIR,</a:t>
            </a:r>
            <a:br/>
            <a:r>
              <a:t>    overwrite=True,</a:t>
            </a:r>
            <a:br/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62763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545336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Read raw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1819656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Discover the measurement files in RAW_DIR.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441448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2514600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432304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Convert when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706624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Use the instrument converter and write SCARLET NeXus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328416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3401568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319272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Infer the experimental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3593592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Collect runs, configurations, and initial transmission ROIs.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215384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28853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206240"/>
            <a:ext cx="42428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Create the output directory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4480560"/>
            <a:ext cx="42428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Keep generated data and workflow artifacts together.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257800"/>
            <a:ext cx="4846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Notebook principle: parameters stay visible in the cell and can be reviewed with the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2: curate the run 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user validates the experimental meaning before calculations begin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074920" cy="340156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4672583" cy="30723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w.write_runs_table_csv('runs_table.csv', overwrite=True)</a:t>
            </a:r>
            <a:br/>
            <a:br/>
            <a:r>
              <a:t># Edit a copy, then load it back</a:t>
            </a:r>
            <a:br/>
            <a:r>
              <a:t>w.update_from_runs_table_csv('runs_filtered.csv')</a:t>
            </a:r>
            <a:br/>
            <a:r>
              <a:t>w.runs_table()</a:t>
            </a:r>
            <a:br/>
            <a:r>
              <a:t>w.configurations_table()</a:t>
            </a:r>
            <a:br/>
            <a:br/>
            <a:r>
              <a:t>w.save('workflow.nxs', overwrite=True)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What the table contains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75104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2103120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975104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03120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sample, water, empty_cell, dark, empty_beam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32888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660904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532888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660904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scattering or transmission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90672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218688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sample 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3090672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218688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sample identifier used by the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648456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776472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3648456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776472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instrument setup used for the measurement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206240"/>
            <a:ext cx="1554480" cy="438912"/>
          </a:xfrm>
          <a:prstGeom prst="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334255"/>
            <a:ext cx="12984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thickness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206240"/>
            <a:ext cx="3611880" cy="438912"/>
          </a:xfrm>
          <a:prstGeom prst="rect">
            <a:avLst/>
          </a:prstGeom>
          <a:solidFill>
            <a:srgbClr val="F3F6F5"/>
          </a:solidFill>
          <a:ln>
            <a:solidFill>
              <a:srgbClr val="F3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334255"/>
            <a:ext cx="32735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233036"/>
                </a:solidFill>
                <a:latin typeface="Aptos"/>
              </a:defRPr>
            </a:pPr>
            <a:r>
              <a:t>thickness normalisation when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76672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E86946"/>
                </a:solidFill>
                <a:latin typeface="Aptos"/>
              </a:defRPr>
            </a:pPr>
            <a:r>
              <a:t>This review prevents a technically valid reduction from using the wrong reference or configuration.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3: compute and reuse transmission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Transmission is evaluated per sample and configuration from a detector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417320"/>
            <a:ext cx="4663440" cy="3566160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261103" cy="3236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w.compute_transmissions()</a:t>
            </a:r>
            <a:br/>
            <a:r>
              <a:t>w.write_runs_table_csv('runs_with_transmission.csv',</a:t>
            </a:r>
            <a:br/>
            <a:r>
              <a:t>                       overwrite=True)</a:t>
            </a:r>
            <a:br/>
            <a:br/>
            <a:r>
              <a:t># Reuse a compatible measurement</a:t>
            </a:r>
            <a:br/>
            <a:r>
              <a:t>w.set_transmission_source(</a:t>
            </a:r>
            <a:br/>
            <a:r>
              <a:t>    config_id='config_2',</a:t>
            </a:r>
            <a:br/>
            <a:r>
              <a:t>    source_config_id='config_4',</a:t>
            </a:r>
            <a:br/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572768"/>
            <a:ext cx="5148072" cy="2816352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8470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Transmission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2267712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34086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258568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532888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Use the central detector region defined for the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926080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99923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916936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191256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Store the transmission alongside the corresponding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584448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657600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575304"/>
            <a:ext cx="36941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Declare the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849624"/>
            <a:ext cx="36941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Explicitly share a compatible transmission between configurations.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413248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005C56"/>
                </a:solidFill>
                <a:latin typeface="Aptos"/>
              </a:defRPr>
            </a:pPr>
            <a:r>
              <a:t>The source relationship is declared, not hidden in notebook variables.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4: masks and water normalisation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Prepare the detector corrections that will be consumed by the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389888"/>
            <a:ext cx="5230368" cy="406908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Masks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4480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Masks are edited in the SCARLET viewer, saved with the output data, then attached to the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3108960"/>
            <a:ext cx="4553712" cy="106984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415137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w.attach_mask_bundles_from_output_dir()</a:t>
            </a:r>
            <a:br/>
            <a:r>
              <a:t># or: w.set_mask_file(config_id=...,</a:t>
            </a:r>
            <a:br/>
            <a:r>
              <a:t>#                     file_path=...)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718304"/>
            <a:ext cx="4434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2E88C7"/>
                </a:solidFill>
                <a:latin typeface="Aptos"/>
              </a:defRPr>
            </a:pPr>
            <a:r>
              <a:t>They exclude detector regions before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89888"/>
            <a:ext cx="5230368" cy="406908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233036"/>
                </a:solidFill>
                <a:latin typeface="Aptos"/>
              </a:defRPr>
            </a:pPr>
            <a:r>
              <a:t>Water flatfield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480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A water run builds a flatfield for a configuration. A compatible configuration can be explicitly reused.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108960"/>
            <a:ext cx="4553712" cy="106984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273552"/>
            <a:ext cx="4151376" cy="7406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w.build_water_flatfield(config_id='config_10')</a:t>
            </a:r>
            <a:br/>
            <a:r>
              <a:t>w.set_flatfield_source(</a:t>
            </a:r>
            <a:br/>
            <a:r>
              <a:t>    config_id='config_9',</a:t>
            </a:r>
            <a:br/>
            <a:r>
              <a:t>    source_config_id='config_10',</a:t>
            </a:r>
            <a:br/>
            <a: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18304"/>
            <a:ext cx="4434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005C56"/>
                </a:solidFill>
                <a:latin typeface="Aptos"/>
              </a:defRPr>
            </a:pPr>
            <a:r>
              <a:t>The pipeline then applies flatfield and solid-angle corrections.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5: run the reduction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One call executes a named sequence of physical processing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26464"/>
            <a:ext cx="3337560" cy="123444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655064"/>
            <a:ext cx="411480" cy="41148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Monitor and dead-time corrections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26464"/>
            <a:ext cx="3337560" cy="1234440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7" y="1655064"/>
            <a:ext cx="411480" cy="411480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Subtract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Dark and empty-cell references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426464"/>
            <a:ext cx="3337560" cy="123444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655064"/>
            <a:ext cx="411480" cy="41148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1627632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Normalise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2011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Water flatfield and solid angle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182112"/>
            <a:ext cx="3337560" cy="1234440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" y="3410712"/>
            <a:ext cx="411480" cy="411480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Sample thickness when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182112"/>
            <a:ext cx="3337560" cy="1234440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36007" y="3410712"/>
            <a:ext cx="411480" cy="41148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Azimuthal average into I(Q)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182112"/>
            <a:ext cx="3337560" cy="1234440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3410712"/>
            <a:ext cx="411480" cy="41148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49300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3383280"/>
            <a:ext cx="2194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4" y="3767328"/>
            <a:ext cx="2240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Processed NeXus and text outputs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5056632"/>
            <a:ext cx="10826496" cy="768096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221224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E8F2F6"/>
                </a:solidFill>
                <a:latin typeface="Aptos Mono"/>
              </a:defRPr>
            </a:pPr>
            <a:r>
              <a:t>pipeline = ReductionPipeline.default()_x000B_state = pipeline.run_for_sample(_x000B_    workflow=w, sample_name='ludox_SM30', config_id='config_9'_x000B_)_x000B__x000B_# Or process all sample scattering runs_x000B_pipeline.run_all(w)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What comes out of the notebook?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Reduced data remain inspectable and carry their treatment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17320"/>
            <a:ext cx="3246120" cy="4242816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Processed NeXus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67712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The source file receives a /processed NXentry containing: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80360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reduced detector data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uncertainties and coordinates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masks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sample and configuration metadata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named reduction steps and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17320"/>
            <a:ext cx="3246120" cy="4242816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I(Q) text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67712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Each detector can produce a text curve with: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Q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I(Q)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intensity uncertainty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Q uncertainty when available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sample, configuration, and transmission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1417320"/>
            <a:ext cx="3246120" cy="4242816"/>
          </a:xfrm>
          <a:prstGeom prst="roundRect">
            <a:avLst/>
          </a:prstGeom>
          <a:solidFill>
            <a:srgbClr val="FCEBE5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5564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State for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67712"/>
            <a:ext cx="2606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The returned ReductionState gives the notebook immediate access 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53512"/>
            <a:ext cx="265176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detectors after each step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transmission used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list of applied steps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warnings and notes</a:t>
            </a:r>
          </a:p>
          <a:p>
            <a:pPr>
              <a:spcAft>
                <a:spcPts val="800"/>
              </a:spcAft>
              <a:defRPr sz="1300">
                <a:solidFill>
                  <a:srgbClr val="233036"/>
                </a:solidFill>
                <a:latin typeface="Aptos"/>
              </a:defRPr>
            </a:pPr>
            <a:r>
              <a:t>• source file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Notebook 6: stitch configurations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Combine reduced I(Q) segments after each configuration has been reduced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417320"/>
            <a:ext cx="4526280" cy="1938528"/>
          </a:xfrm>
          <a:prstGeom prst="roundRect">
            <a:avLst/>
          </a:prstGeom>
          <a:solidFill>
            <a:srgbClr val="1F2B2E"/>
          </a:solidFill>
          <a:ln>
            <a:solidFill>
              <a:srgbClr val="1F2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123944" cy="1609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E8F2F6"/>
                </a:solidFill>
                <a:latin typeface="Aptos Mono"/>
              </a:defRPr>
            </a:pPr>
            <a:r>
              <a:t>from scarlet.workflow.pipeline import StichingPipeline</a:t>
            </a:r>
            <a:br/>
            <a:br/>
            <a:r>
              <a:t>stitch = StichingPipeline(w)</a:t>
            </a:r>
            <a:br/>
            <a:r>
              <a:t>stitch.run_all(scale_on='config_10',</a:t>
            </a:r>
            <a:br/>
            <a:r>
              <a:t>               normalization_factor=1.0)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1472184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Stitching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1920240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199339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911096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Load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85416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Read the reduced I(Q) curves from processed NeXus entries.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2770632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284378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761488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Compare overlaps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035808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Estimate relative scale factors in common Q ranges.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0992" y="3621024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369417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611880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Select ranges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3886200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Keep the useful Q range from each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4471416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4544568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4462272"/>
            <a:ext cx="46542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Apply final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736592"/>
            <a:ext cx="46542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normalization_factor multiplies I and I_error, not Q or q_error.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3877056"/>
            <a:ext cx="4526280" cy="15544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160520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562856"/>
            <a:ext cx="380390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Run ReductionPipeline for every scattering configuration before stitching.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Stitching: from curves to candidate segments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Each configuration + detector pair is treated as an independent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46120" cy="42976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9928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233036"/>
                </a:solidFill>
                <a:latin typeface="Aptos"/>
              </a:defRPr>
            </a:pPr>
            <a:r>
              <a:t>A segment contains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04288"/>
            <a:ext cx="2331720" cy="2011680"/>
          </a:xfrm>
          <a:prstGeom prst="rect">
            <a:avLst/>
          </a:prstGeom>
          <a:noFill/>
        </p:spPr>
        <p:txBody>
          <a:bodyPr wrap="square" lIns="18288" r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Q and I(Q)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dI uncertainty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dQ resolution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configuration identifier</a:t>
            </a:r>
          </a:p>
          <a:p>
            <a:pPr>
              <a:spcAft>
                <a:spcPts val="1000"/>
              </a:spcAft>
              <a:defRPr sz="1500">
                <a:solidFill>
                  <a:srgbClr val="233036"/>
                </a:solidFill>
                <a:latin typeface="Aptos"/>
              </a:defRPr>
            </a:pPr>
            <a:r>
              <a:t>• detector identifier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98348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005C56"/>
                </a:solidFill>
                <a:latin typeface="Aptos"/>
              </a:defRPr>
            </a:pPr>
            <a:r>
              <a:t>Example: c10d2 = config_10 + detector2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233036"/>
                </a:solidFill>
                <a:latin typeface="Aptos"/>
              </a:defRPr>
            </a:pPr>
            <a:r>
              <a:t>A segment is evaluated by its intrinsic quality: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56231"/>
            <a:ext cx="5852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0">
                <a:solidFill>
                  <a:srgbClr val="005C56"/>
                </a:solidFill>
                <a:latin typeface="Aptos"/>
              </a:defRPr>
            </a:pPr>
            <a:r>
              <a:t>quality = median[(dI / I)² + λres (dQ / Q)²]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95728"/>
            <a:ext cx="5760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5E6C70"/>
                </a:solidFill>
                <a:latin typeface="Aptos"/>
              </a:defRPr>
            </a:pPr>
            <a:r>
              <a:t>Low relative uncertainty and good resolution give a lower score, making a segment preferable.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54680"/>
            <a:ext cx="6400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401568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Illustration on the Q axis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968496"/>
            <a:ext cx="2331720" cy="237744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675887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E88C7"/>
                </a:solidFill>
                <a:latin typeface="Aptos"/>
              </a:defRPr>
            </a:pPr>
            <a:r>
              <a:t>c9d0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68496"/>
            <a:ext cx="3063240" cy="237744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70248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005C56"/>
                </a:solidFill>
                <a:latin typeface="Aptos"/>
              </a:defRPr>
            </a:pPr>
            <a:r>
              <a:t>c10d0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968496"/>
            <a:ext cx="1417320" cy="237744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675887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E86946"/>
                </a:solidFill>
                <a:latin typeface="Aptos"/>
              </a:defRPr>
            </a:pPr>
            <a:r>
              <a:t>c10d2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803904"/>
            <a:ext cx="777240" cy="566928"/>
          </a:xfrm>
          <a:prstGeom prst="rect">
            <a:avLst/>
          </a:prstGeom>
          <a:solidFill>
            <a:srgbClr val="FFF8DE"/>
          </a:solidFill>
          <a:ln w="12700"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526280"/>
            <a:ext cx="7863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233036"/>
                </a:solidFill>
                <a:latin typeface="Aptos"/>
              </a:defRPr>
            </a:pPr>
            <a:r>
              <a:t>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06577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low 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506577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high 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Stitching: fit two segments in their overlap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required connection is multiplicative, not a deformation of the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17320"/>
            <a:ext cx="4983480" cy="4370832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37360"/>
            <a:ext cx="4160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1. Build a common Q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41605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E6C70"/>
                </a:solidFill>
                <a:latin typeface="Aptos"/>
              </a:defRPr>
            </a:pPr>
            <a:r>
              <a:t>Both curves are interpolated in their overlap on a common logarithmic grid. The point count is conservative: min(NA, NB).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520440"/>
            <a:ext cx="37490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2. Compute the log-ratio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68496"/>
            <a:ext cx="3794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0">
                <a:solidFill>
                  <a:srgbClr val="2E88C7"/>
                </a:solidFill>
                <a:latin typeface="Aptos"/>
              </a:defRPr>
            </a:pPr>
            <a:r>
              <a:t>r(Q) = ln IA(Q) − ln IB(Q)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498848"/>
            <a:ext cx="4160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5E6C70"/>
                </a:solidFill>
                <a:latin typeface="Aptos"/>
              </a:defRPr>
            </a:pPr>
            <a:r>
              <a:t>If the connection is valid, r(Q) forms a plateau.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5422392" cy="4370832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3736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3. Fit a weighted constant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13432"/>
            <a:ext cx="4343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0">
                <a:solidFill>
                  <a:srgbClr val="005C56"/>
                </a:solidFill>
                <a:latin typeface="Aptos"/>
              </a:defRPr>
            </a:pPr>
            <a:r>
              <a:t>ln s = sum(wi ri) / sum(wi)
with wi = 1 / σri²</a:t>
            </a:r>
            <a:br/>
            <a: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82112"/>
            <a:ext cx="43434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0">
                <a:solidFill>
                  <a:srgbClr val="233036"/>
                </a:solidFill>
                <a:latin typeface="Aptos"/>
              </a:defRPr>
            </a:pPr>
            <a:r>
              <a:t>σr² = (dIA / IA)² + (dIB / IB)²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858768"/>
            <a:ext cx="4343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5E6C70"/>
                </a:solidFill>
                <a:latin typeface="Aptos"/>
              </a:defRPr>
            </a:pPr>
            <a:r>
              <a:t>The factor s maps segment B onto the scale of segment A: IA(Q) ≈ s IB(Q).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4718304"/>
            <a:ext cx="38404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855464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1">
                <a:solidFill>
                  <a:srgbClr val="005C56"/>
                </a:solidFill>
                <a:latin typeface="Aptos"/>
              </a:defRPr>
            </a:pPr>
            <a:r>
              <a:t>s = exp(ln 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Stitching: choose a reliable fitting window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full overlap is not necessarily the best fitting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07592"/>
            <a:ext cx="106527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0">
                <a:solidFill>
                  <a:srgbClr val="5E6C70"/>
                </a:solidFill>
                <a:latin typeface="Aptos"/>
              </a:defRPr>
            </a:pPr>
            <a:r>
              <a:t>The algorithm tests several windows in the overlap and minimises a quality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828800"/>
            <a:ext cx="5074920" cy="1298448"/>
          </a:xfrm>
          <a:prstGeom prst="roundRect">
            <a:avLst/>
          </a:prstGeom>
          <a:solidFill>
            <a:srgbClr val="E7F2FA"/>
          </a:solidFill>
          <a:ln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828800"/>
            <a:ext cx="91440" cy="1298448"/>
          </a:xfrm>
          <a:prstGeom prst="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Reduced χ²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9572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The log-ratio is compatible with a constant.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1" y="221284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2313432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χ²ν &lt; 3.0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828800"/>
            <a:ext cx="5074920" cy="1298448"/>
          </a:xfrm>
          <a:prstGeom prst="roundRect">
            <a:avLst/>
          </a:prstGeom>
          <a:solidFill>
            <a:srgbClr val="FCEBE5"/>
          </a:solidFill>
          <a:ln>
            <a:solidFill>
              <a:srgbClr val="FC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1" y="1828800"/>
            <a:ext cx="91440" cy="1298448"/>
          </a:xfrm>
          <a:prstGeom prst="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201168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Residual slope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239572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A drift in r(Q) reveals a poor plateau.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1" y="2212848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4" y="2313432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|b / σb| &lt; 2.5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493008"/>
            <a:ext cx="5074920" cy="1298448"/>
          </a:xfrm>
          <a:prstGeom prst="roundRect">
            <a:avLst/>
          </a:prstGeom>
          <a:solidFill>
            <a:srgbClr val="E0F3F0"/>
          </a:solidFill>
          <a:ln>
            <a:solidFill>
              <a:srgbClr val="E0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493008"/>
            <a:ext cx="91440" cy="1298448"/>
          </a:xfrm>
          <a:prstGeom prst="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7588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Window 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059936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Avoid an artificial agreement over too few 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1" y="3877056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3977640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at least 8 points
Δln Q ≥ 0.10</a:t>
            </a:r>
            <a:br/>
            <a: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3493008"/>
            <a:ext cx="5074920" cy="1298448"/>
          </a:xfrm>
          <a:prstGeom prst="roundRect">
            <a:avLst/>
          </a:prstGeom>
          <a:solidFill>
            <a:srgbClr val="FFF8DE"/>
          </a:solidFill>
          <a:ln>
            <a:solidFill>
              <a:srgbClr val="FFF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3493008"/>
            <a:ext cx="91440" cy="1298448"/>
          </a:xfrm>
          <a:prstGeom prst="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367588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233036"/>
                </a:solidFill>
                <a:latin typeface="Aptos"/>
              </a:defRPr>
            </a:pPr>
            <a: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1" y="4059936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5E6C70"/>
                </a:solidFill>
                <a:latin typeface="Aptos"/>
              </a:defRPr>
            </a:pPr>
            <a:r>
              <a:t>Prefer a lower combined relative resolution.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1" y="3877056"/>
            <a:ext cx="1234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3977640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33036"/>
                </a:solidFill>
                <a:latin typeface="Aptos"/>
              </a:defRPr>
            </a:pPr>
            <a:r>
              <a:t>secondary
weighting</a:t>
            </a:r>
            <a:br/>
            <a: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5431536"/>
            <a:ext cx="9802368" cy="512064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9326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005C56"/>
                </a:solidFill>
                <a:latin typeface="Aptos"/>
              </a:defRPr>
            </a:pPr>
            <a:r>
              <a:t>A transition is accepted only if the plateau is reliable and the new segment extends Q coverage sufficiently.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Stitching: select, scale, concatenate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final chain favours useful segments rather than every available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444752"/>
            <a:ext cx="438912" cy="438912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1790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3560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Start at low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0992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pipeline starts with the segment having the lowest Qmin.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67712"/>
            <a:ext cx="438912" cy="438912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4086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25856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Evaluate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3288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A candidate must connect, have good quality, and extend Qmax.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090672"/>
            <a:ext cx="438912" cy="438912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6382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08152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Choose the lowest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5584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cost = connection score + segment quality − Q coverage 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913632"/>
            <a:ext cx="438912" cy="438912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98678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904488"/>
            <a:ext cx="44714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233036"/>
                </a:solidFill>
                <a:latin typeface="Aptos"/>
              </a:defRPr>
            </a:pPr>
            <a:r>
              <a:t>Repeat to the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78808"/>
            <a:ext cx="447141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Redundant segments or segments without a valid transition are rejected.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093208" cy="429768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CED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73736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233036"/>
                </a:solidFill>
                <a:latin typeface="Aptos"/>
              </a:defRPr>
            </a:pPr>
            <a:r>
              <a:t>Building the final curve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22199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Global factors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542032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300" b="0">
                <a:solidFill>
                  <a:srgbClr val="005C56"/>
                </a:solidFill>
                <a:latin typeface="Aptos"/>
              </a:defRPr>
            </a:pPr>
            <a:r>
              <a:t>GB = GA × sB→A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01752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5E6C70"/>
                </a:solidFill>
                <a:latin typeface="Aptos"/>
              </a:defRPr>
            </a:pPr>
            <a:r>
              <a:t>I and dI are multiplied; dQ is unchanged.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566160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Overlap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67912"/>
            <a:ext cx="4389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A central fraction of the fit is kept for a controlled transition (25% by default).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55371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005C56"/>
                </a:solidFill>
                <a:latin typeface="Aptos"/>
              </a:defRPr>
            </a:pPr>
            <a:r>
              <a:t>Reference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84632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0">
                <a:solidFill>
                  <a:srgbClr val="5E6C70"/>
                </a:solidFill>
                <a:latin typeface="Aptos"/>
              </a:defRPr>
            </a:pPr>
            <a:r>
              <a:t>scale_on sets the reference configuration to a global factor of 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3832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007B7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46888"/>
            <a:ext cx="10561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700" b="1">
                <a:solidFill>
                  <a:srgbClr val="233036"/>
                </a:solidFill>
                <a:latin typeface="Aptos"/>
              </a:defRPr>
            </a:pPr>
            <a:r>
              <a:t>Key message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>
            <a:solidFill>
              <a:srgbClr val="CE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804672"/>
            <a:ext cx="10241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0">
                <a:solidFill>
                  <a:srgbClr val="5E6C70"/>
                </a:solidFill>
                <a:latin typeface="Aptos"/>
              </a:defRPr>
            </a:pPr>
            <a:r>
              <a:t>The notebook is a guided, auditable route from experimental files to reduced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26464"/>
            <a:ext cx="10771632" cy="100584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19072"/>
            <a:ext cx="10195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SCARLET combines experimental context, explicit correction choices, and reproducible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365760" cy="365760"/>
          </a:xfrm>
          <a:prstGeom prst="roundRect">
            <a:avLst/>
          </a:prstGeom>
          <a:solidFill>
            <a:srgbClr val="2E88C7"/>
          </a:solidFill>
          <a:ln>
            <a:solidFill>
              <a:srgbClr val="2E8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54096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71800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Start with the run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Validate samples, references, and configurations before reduction.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39312"/>
            <a:ext cx="365760" cy="365760"/>
          </a:xfrm>
          <a:prstGeom prst="roundRect">
            <a:avLst/>
          </a:prstGeom>
          <a:solidFill>
            <a:srgbClr val="007B73"/>
          </a:solidFill>
          <a:ln>
            <a:solidFill>
              <a:srgbClr val="007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639312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Use notebook cells as checkpoints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39312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Transmission, masks, and flatfields are visible and reviewable.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306824"/>
            <a:ext cx="365760" cy="365760"/>
          </a:xfrm>
          <a:prstGeom prst="roundRect">
            <a:avLst/>
          </a:prstGeom>
          <a:solidFill>
            <a:srgbClr val="E86946"/>
          </a:solidFill>
          <a:ln>
            <a:solidFill>
              <a:srgbClr val="E86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06824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Run a standard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06824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Named steps reduce every sample consistently and save provenance.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974336"/>
            <a:ext cx="365760" cy="365760"/>
          </a:xfrm>
          <a:prstGeom prst="roundRect">
            <a:avLst/>
          </a:prstGeom>
          <a:solidFill>
            <a:srgbClr val="F3BE40"/>
          </a:solidFill>
          <a:ln>
            <a:solidFill>
              <a:srgbClr val="F3B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56631"/>
            <a:ext cx="3657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74336"/>
            <a:ext cx="301752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233036"/>
                </a:solidFill>
                <a:latin typeface="Aptos"/>
              </a:defRPr>
            </a:pPr>
            <a:r>
              <a:t>Inspect, then stitch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74336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E6C70"/>
                </a:solidFill>
                <a:latin typeface="Aptos"/>
              </a:defRPr>
            </a:pPr>
            <a:r>
              <a:t>Work from reduced I(Q) curves and retain physical scale choices.</a:t>
            </a:r>
          </a:p>
        </p:txBody>
      </p:sp>
      <p:pic>
        <p:nvPicPr>
          <p:cNvPr id="24" name="Picture 23" descr="logo_scar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5870448"/>
            <a:ext cx="1170432" cy="11704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9808" y="6172200"/>
            <a:ext cx="5486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E6C70"/>
                </a:solidFill>
                <a:latin typeface="Aptos"/>
              </a:defRPr>
            </a:pPr>
            <a:r>
              <a:t>Project documentation: hibouchen.github.io/scarlet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37960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E6C70"/>
                </a:solidFill>
                <a:latin typeface="Aptos"/>
              </a:defRPr>
            </a:pPr>
            <a:r>
              <a:t>SCARLET | SANS data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56848" y="6537960"/>
            <a:ext cx="274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0">
                <a:solidFill>
                  <a:srgbClr val="5E6C7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