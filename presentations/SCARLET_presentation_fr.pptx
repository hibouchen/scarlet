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B73"/>
          </a:solidFill>
          <a:ln>
            <a:solidFill>
              <a:srgbClr val="007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scarl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85800"/>
            <a:ext cx="2423160" cy="2423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1965960"/>
            <a:ext cx="594360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4000" b="1">
                <a:solidFill>
                  <a:srgbClr val="233036"/>
                </a:solidFill>
                <a:latin typeface="Aptos"/>
              </a:defRPr>
            </a:pPr>
            <a:r>
              <a:t>SCARLET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2770632"/>
            <a:ext cx="66751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300" b="0">
                <a:solidFill>
                  <a:srgbClr val="005C56"/>
                </a:solidFill>
                <a:latin typeface="Aptos"/>
              </a:defRPr>
            </a:pPr>
            <a:r>
              <a:t>Réduction de données SANS avec un workflow Python reproductible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456432"/>
            <a:ext cx="6217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0">
                <a:solidFill>
                  <a:srgbClr val="5E6C70"/>
                </a:solidFill>
                <a:latin typeface="Aptos"/>
              </a:defRPr>
            </a:pPr>
            <a:r>
              <a:t>Présentation du projet et du workflow dans Jupyter Notebook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4233672"/>
            <a:ext cx="1737360" cy="310896"/>
          </a:xfrm>
          <a:prstGeom prst="roundRect">
            <a:avLst/>
          </a:prstGeom>
          <a:solidFill>
            <a:srgbClr val="E0F3F0"/>
          </a:solidFill>
          <a:ln>
            <a:solidFill>
              <a:srgbClr val="E0F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4288536"/>
            <a:ext cx="1645919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000" b="1">
                <a:solidFill>
                  <a:srgbClr val="005C56"/>
                </a:solidFill>
                <a:latin typeface="Aptos"/>
              </a:defRPr>
            </a:pPr>
            <a:r>
              <a:t>Natif NeXus / HDF5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06040" y="4233672"/>
            <a:ext cx="1207008" cy="310896"/>
          </a:xfrm>
          <a:prstGeom prst="roundRect">
            <a:avLst/>
          </a:prstGeom>
          <a:solidFill>
            <a:srgbClr val="E7F2FA"/>
          </a:solidFill>
          <a:ln>
            <a:solidFill>
              <a:srgbClr val="E7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0" y="4288536"/>
            <a:ext cx="111556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000" b="1">
                <a:solidFill>
                  <a:srgbClr val="2E88C7"/>
                </a:solidFill>
                <a:latin typeface="Aptos"/>
              </a:defRPr>
            </a:pPr>
            <a:r>
              <a:t>API Python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77639" y="4233672"/>
            <a:ext cx="1517904" cy="310896"/>
          </a:xfrm>
          <a:prstGeom prst="roundRect">
            <a:avLst/>
          </a:prstGeom>
          <a:solidFill>
            <a:srgbClr val="FCEBE5"/>
          </a:solidFill>
          <a:ln>
            <a:solidFill>
              <a:srgbClr val="FCE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23359" y="4288536"/>
            <a:ext cx="1426463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000" b="1">
                <a:solidFill>
                  <a:srgbClr val="E86946"/>
                </a:solidFill>
                <a:latin typeface="Aptos"/>
              </a:defRPr>
            </a:pPr>
            <a:r>
              <a:t>Notebook Jupyter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1097280"/>
            <a:ext cx="35204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74152" y="1517904"/>
            <a:ext cx="274320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2400" b="1">
                <a:solidFill>
                  <a:srgbClr val="233036"/>
                </a:solidFill>
                <a:latin typeface="Aptos"/>
              </a:defRPr>
            </a:pPr>
            <a:r>
              <a:t>Des données brutes</a:t>
            </a:r>
            <a:br/>
            <a:r>
              <a:t>aux courbes I(Q)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2560320"/>
            <a:ext cx="2240280" cy="438912"/>
          </a:xfrm>
          <a:prstGeom prst="roundRect">
            <a:avLst/>
          </a:prstGeom>
          <a:solidFill>
            <a:srgbClr val="F3F6F5"/>
          </a:solidFill>
          <a:ln>
            <a:solidFill>
              <a:srgbClr val="F3F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21040" y="2560320"/>
            <a:ext cx="91440" cy="438912"/>
          </a:xfrm>
          <a:prstGeom prst="rect">
            <a:avLst/>
          </a:prstGeom>
          <a:solidFill>
            <a:srgbClr val="2E88C7"/>
          </a:solidFill>
          <a:ln>
            <a:solidFill>
              <a:srgbClr val="2E8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0496" y="2688336"/>
            <a:ext cx="18288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1">
                <a:solidFill>
                  <a:srgbClr val="233036"/>
                </a:solidFill>
                <a:latin typeface="Aptos"/>
              </a:defRPr>
            </a:pPr>
            <a:r>
              <a:t>Fichiers instrumentaux bruts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3310128"/>
            <a:ext cx="2240280" cy="438912"/>
          </a:xfrm>
          <a:prstGeom prst="roundRect">
            <a:avLst/>
          </a:prstGeom>
          <a:solidFill>
            <a:srgbClr val="F3F6F5"/>
          </a:solidFill>
          <a:ln>
            <a:solidFill>
              <a:srgbClr val="F3F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21040" y="3310128"/>
            <a:ext cx="91440" cy="438912"/>
          </a:xfrm>
          <a:prstGeom prst="rect">
            <a:avLst/>
          </a:prstGeom>
          <a:solidFill>
            <a:srgbClr val="007B73"/>
          </a:solidFill>
          <a:ln>
            <a:solidFill>
              <a:srgbClr val="007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40496" y="3438144"/>
            <a:ext cx="18288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1">
                <a:solidFill>
                  <a:srgbClr val="233036"/>
                </a:solidFill>
                <a:latin typeface="Aptos"/>
              </a:defRPr>
            </a:pPr>
            <a:r>
              <a:t>Workflow SCARLET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21040" y="4059936"/>
            <a:ext cx="2240280" cy="438912"/>
          </a:xfrm>
          <a:prstGeom prst="roundRect">
            <a:avLst/>
          </a:prstGeom>
          <a:solidFill>
            <a:srgbClr val="F3F6F5"/>
          </a:solidFill>
          <a:ln>
            <a:solidFill>
              <a:srgbClr val="F3F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321040" y="4059936"/>
            <a:ext cx="91440" cy="438912"/>
          </a:xfrm>
          <a:prstGeom prst="rect">
            <a:avLst/>
          </a:prstGeom>
          <a:solidFill>
            <a:srgbClr val="E86946"/>
          </a:solidFill>
          <a:ln>
            <a:solidFill>
              <a:srgbClr val="E86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40496" y="4187952"/>
            <a:ext cx="18288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1">
                <a:solidFill>
                  <a:srgbClr val="233036"/>
                </a:solidFill>
                <a:latin typeface="Aptos"/>
              </a:defRPr>
            </a:pPr>
            <a:r>
              <a:t>I(Q) réduit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436608" y="3008376"/>
            <a:ext cx="0" cy="274320"/>
          </a:xfrm>
          <a:prstGeom prst="line">
            <a:avLst/>
          </a:prstGeom>
          <a:ln w="25400">
            <a:solidFill>
              <a:srgbClr val="007B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436608" y="3758184"/>
            <a:ext cx="0" cy="274320"/>
          </a:xfrm>
          <a:prstGeom prst="line">
            <a:avLst/>
          </a:prstGeom>
          <a:ln w="25400">
            <a:solidFill>
              <a:srgbClr val="007B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13232" y="6144768"/>
            <a:ext cx="9144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0">
                <a:solidFill>
                  <a:srgbClr val="5E6C70"/>
                </a:solidFill>
                <a:latin typeface="Aptos"/>
              </a:defRPr>
            </a:pPr>
            <a:r>
              <a:t>v0.2.4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38328"/>
            <a:ext cx="457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007B7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" y="246888"/>
            <a:ext cx="105613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700" b="1">
                <a:solidFill>
                  <a:srgbClr val="233036"/>
                </a:solidFill>
                <a:latin typeface="Aptos"/>
              </a:defRPr>
            </a:pPr>
            <a:r>
              <a:t>Pourquoi SCARLET 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868680"/>
            <a:ext cx="11183112" cy="0"/>
          </a:xfrm>
          <a:prstGeom prst="line">
            <a:avLst/>
          </a:prstGeom>
          <a:ln>
            <a:solidFill>
              <a:srgbClr val="CED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24128" y="804672"/>
            <a:ext cx="102412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E6C70"/>
                </a:solidFill>
                <a:latin typeface="Aptos"/>
              </a:defRPr>
            </a:pPr>
            <a:r>
              <a:t>Un cadre pratique pour la réduction SANS sur plusieurs instruments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520440" cy="1389888"/>
          </a:xfrm>
          <a:prstGeom prst="roundRect">
            <a:avLst/>
          </a:prstGeom>
          <a:solidFill>
            <a:srgbClr val="E7F2FA"/>
          </a:solidFill>
          <a:ln w="12700">
            <a:solidFill>
              <a:srgbClr val="CED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82296" cy="1389888"/>
          </a:xfrm>
          <a:prstGeom prst="rect">
            <a:avLst/>
          </a:prstGeom>
          <a:solidFill>
            <a:srgbClr val="2E88C7"/>
          </a:solidFill>
          <a:ln>
            <a:solidFill>
              <a:srgbClr val="2E8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581912"/>
            <a:ext cx="31089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233036"/>
                </a:solidFill>
                <a:latin typeface="Aptos"/>
              </a:defRPr>
            </a:pPr>
            <a:r>
              <a:t>Langage de données commun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011680"/>
            <a:ext cx="3081528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0">
                <a:solidFill>
                  <a:srgbClr val="5E6C70"/>
                </a:solidFill>
                <a:latin typeface="Aptos"/>
              </a:defRPr>
            </a:pPr>
            <a:r>
              <a:t>NeXus/HDF5 est le format d’échange, de la conversion aux résultats réduits.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417320"/>
            <a:ext cx="3520440" cy="1389888"/>
          </a:xfrm>
          <a:prstGeom prst="roundRect">
            <a:avLst/>
          </a:prstGeom>
          <a:solidFill>
            <a:srgbClr val="E0F3F0"/>
          </a:solidFill>
          <a:ln w="12700">
            <a:solidFill>
              <a:srgbClr val="CED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417320"/>
            <a:ext cx="82296" cy="1389888"/>
          </a:xfrm>
          <a:prstGeom prst="rect">
            <a:avLst/>
          </a:prstGeom>
          <a:solidFill>
            <a:srgbClr val="007B73"/>
          </a:solidFill>
          <a:ln>
            <a:solidFill>
              <a:srgbClr val="007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1581912"/>
            <a:ext cx="31089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233036"/>
                </a:solidFill>
                <a:latin typeface="Aptos"/>
              </a:defRPr>
            </a:pPr>
            <a:r>
              <a:t>Workflow traçable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011680"/>
            <a:ext cx="3081528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0">
                <a:solidFill>
                  <a:srgbClr val="5E6C70"/>
                </a:solidFill>
                <a:latin typeface="Aptos"/>
              </a:defRPr>
            </a:pPr>
            <a:r>
              <a:t>Runs, configurations, références, masques et choix de traitement sont réunis dans un WorkflowContext.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417320"/>
            <a:ext cx="3520440" cy="1389888"/>
          </a:xfrm>
          <a:prstGeom prst="roundRect">
            <a:avLst/>
          </a:prstGeom>
          <a:solidFill>
            <a:srgbClr val="FCEBE5"/>
          </a:solidFill>
          <a:ln w="12700">
            <a:solidFill>
              <a:srgbClr val="CED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417320"/>
            <a:ext cx="82296" cy="1389888"/>
          </a:xfrm>
          <a:prstGeom prst="rect">
            <a:avLst/>
          </a:prstGeom>
          <a:solidFill>
            <a:srgbClr val="E86946"/>
          </a:solidFill>
          <a:ln>
            <a:solidFill>
              <a:srgbClr val="E86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1581912"/>
            <a:ext cx="31089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233036"/>
                </a:solidFill>
                <a:latin typeface="Aptos"/>
              </a:defRPr>
            </a:pPr>
            <a:r>
              <a:t>Notebook pour l’expérimentateur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2011680"/>
            <a:ext cx="3081528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0">
                <a:solidFill>
                  <a:srgbClr val="5E6C70"/>
                </a:solidFill>
                <a:latin typeface="Aptos"/>
              </a:defRPr>
            </a:pPr>
            <a:r>
              <a:t>Le tutoriel rend chaque décision visible et le pipeline répète les calculs de façon homogène.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" y="3337560"/>
            <a:ext cx="24688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800" b="1">
                <a:solidFill>
                  <a:srgbClr val="005C56"/>
                </a:solidFill>
                <a:latin typeface="Aptos"/>
              </a:defRPr>
            </a:pPr>
            <a:r>
              <a:t>Principe de conception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" y="3703320"/>
            <a:ext cx="106070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500" b="0">
                <a:solidFill>
                  <a:srgbClr val="233036"/>
                </a:solidFill>
                <a:latin typeface="Aptos"/>
              </a:defRPr>
            </a:pPr>
            <a:r>
              <a:t>Conserver le contexte expérimental près des données, puis rendre les étapes de réduction explicites et répétables.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6656" y="4800600"/>
            <a:ext cx="10835640" cy="658368"/>
          </a:xfrm>
          <a:prstGeom prst="roundRect">
            <a:avLst/>
          </a:prstGeom>
          <a:solidFill>
            <a:srgbClr val="F3F6F5"/>
          </a:solidFill>
          <a:ln w="12700">
            <a:solidFill>
              <a:srgbClr val="CED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001768"/>
            <a:ext cx="10972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2E88C7"/>
                </a:solidFill>
                <a:latin typeface="Aptos"/>
              </a:defRPr>
            </a:pPr>
            <a:r>
              <a:t>Fichiers bruts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167128" y="5129784"/>
            <a:ext cx="649224" cy="0"/>
          </a:xfrm>
          <a:prstGeom prst="line">
            <a:avLst/>
          </a:prstGeom>
          <a:ln w="25400">
            <a:solidFill>
              <a:srgbClr val="CED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035808" y="5001768"/>
            <a:ext cx="1828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005C56"/>
                </a:solidFill>
                <a:latin typeface="Aptos"/>
              </a:defRPr>
            </a:pPr>
            <a:r>
              <a:t>Contexte + références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120640" y="5129784"/>
            <a:ext cx="649224" cy="0"/>
          </a:xfrm>
          <a:prstGeom prst="line">
            <a:avLst/>
          </a:prstGeom>
          <a:ln w="25400">
            <a:solidFill>
              <a:srgbClr val="CED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989320" y="5001768"/>
            <a:ext cx="1645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005C56"/>
                </a:solidFill>
                <a:latin typeface="Aptos"/>
              </a:defRPr>
            </a:pPr>
            <a:r>
              <a:t>Pipeline de réduction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900416" y="5129784"/>
            <a:ext cx="649224" cy="0"/>
          </a:xfrm>
          <a:prstGeom prst="line">
            <a:avLst/>
          </a:prstGeom>
          <a:ln w="25400">
            <a:solidFill>
              <a:srgbClr val="CED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778240" y="5001768"/>
            <a:ext cx="17373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E86946"/>
                </a:solidFill>
                <a:latin typeface="Aptos"/>
              </a:defRPr>
            </a:pPr>
            <a:r>
              <a:t>I(Q) + provenance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" y="6537960"/>
            <a:ext cx="32918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0">
                <a:solidFill>
                  <a:srgbClr val="5E6C70"/>
                </a:solidFill>
                <a:latin typeface="Aptos"/>
              </a:defRPr>
            </a:pPr>
            <a:r>
              <a:t>SCARLET | Réduction de données SANS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56848" y="6537960"/>
            <a:ext cx="2743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900" b="0">
                <a:solidFill>
                  <a:srgbClr val="5E6C70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38328"/>
            <a:ext cx="457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007B7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" y="246888"/>
            <a:ext cx="105613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700" b="1">
                <a:solidFill>
                  <a:srgbClr val="233036"/>
                </a:solidFill>
                <a:latin typeface="Aptos"/>
              </a:defRPr>
            </a:pPr>
            <a:r>
              <a:t>Structure du projet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868680"/>
            <a:ext cx="11183112" cy="0"/>
          </a:xfrm>
          <a:prstGeom prst="line">
            <a:avLst/>
          </a:prstGeom>
          <a:ln>
            <a:solidFill>
              <a:srgbClr val="CED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24128" y="804672"/>
            <a:ext cx="102412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E6C70"/>
                </a:solidFill>
                <a:latin typeface="Aptos"/>
              </a:defRPr>
            </a:pPr>
            <a:r>
              <a:t>Un nombre restreint de modules aux responsabilités claires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389888"/>
            <a:ext cx="2542032" cy="2103120"/>
          </a:xfrm>
          <a:prstGeom prst="roundRect">
            <a:avLst/>
          </a:prstGeom>
          <a:solidFill>
            <a:srgbClr val="E7F2FA"/>
          </a:solidFill>
          <a:ln>
            <a:solidFill>
              <a:srgbClr val="E7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389888"/>
            <a:ext cx="2542032" cy="109728"/>
          </a:xfrm>
          <a:prstGeom prst="rect">
            <a:avLst/>
          </a:prstGeom>
          <a:solidFill>
            <a:srgbClr val="2E88C7"/>
          </a:solidFill>
          <a:ln>
            <a:solidFill>
              <a:srgbClr val="2E8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719072"/>
            <a:ext cx="2011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100" b="1">
                <a:solidFill>
                  <a:srgbClr val="233036"/>
                </a:solidFill>
                <a:latin typeface="Aptos"/>
              </a:defRPr>
            </a:pPr>
            <a:r>
              <a:t>io/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267712"/>
            <a:ext cx="205740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0">
                <a:solidFill>
                  <a:srgbClr val="5E6C70"/>
                </a:solidFill>
                <a:latin typeface="Aptos"/>
              </a:defRPr>
            </a:pPr>
            <a:r>
              <a:t>Lecteurs et convertisseurs</a:t>
            </a:r>
            <a:br/>
            <a:r>
              <a:t>D11, SANS-LLB, SAM</a:t>
            </a:r>
            <a:br/>
            <a:r>
              <a:t>Accès NeXus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38728" y="1389888"/>
            <a:ext cx="2542032" cy="2103120"/>
          </a:xfrm>
          <a:prstGeom prst="roundRect">
            <a:avLst/>
          </a:prstGeom>
          <a:solidFill>
            <a:srgbClr val="E0F3F0"/>
          </a:solidFill>
          <a:ln>
            <a:solidFill>
              <a:srgbClr val="E0F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38728" y="1389888"/>
            <a:ext cx="2542032" cy="109728"/>
          </a:xfrm>
          <a:prstGeom prst="rect">
            <a:avLst/>
          </a:prstGeom>
          <a:solidFill>
            <a:srgbClr val="007B73"/>
          </a:solidFill>
          <a:ln>
            <a:solidFill>
              <a:srgbClr val="007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67328" y="1719072"/>
            <a:ext cx="2011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100" b="1">
                <a:solidFill>
                  <a:srgbClr val="233036"/>
                </a:solidFill>
                <a:latin typeface="Aptos"/>
              </a:defRPr>
            </a:pPr>
            <a:r>
              <a:t>workflow/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67328" y="2267712"/>
            <a:ext cx="205740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0">
                <a:solidFill>
                  <a:srgbClr val="5E6C70"/>
                </a:solidFill>
                <a:latin typeface="Aptos"/>
              </a:defRPr>
            </a:pPr>
            <a:r>
              <a:t>WorkflowContext</a:t>
            </a:r>
            <a:br/>
            <a:r>
              <a:t>Tables de runs et configuration</a:t>
            </a:r>
            <a:br/>
            <a:r>
              <a:t>Pipelines de réduction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19088" y="1389888"/>
            <a:ext cx="2542032" cy="2103120"/>
          </a:xfrm>
          <a:prstGeom prst="roundRect">
            <a:avLst/>
          </a:prstGeom>
          <a:solidFill>
            <a:srgbClr val="FCEBE5"/>
          </a:solidFill>
          <a:ln>
            <a:solidFill>
              <a:srgbClr val="FCE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19088" y="1389888"/>
            <a:ext cx="2542032" cy="109728"/>
          </a:xfrm>
          <a:prstGeom prst="rect">
            <a:avLst/>
          </a:prstGeom>
          <a:solidFill>
            <a:srgbClr val="E86946"/>
          </a:solidFill>
          <a:ln>
            <a:solidFill>
              <a:srgbClr val="E86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47688" y="1719072"/>
            <a:ext cx="2011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100" b="1">
                <a:solidFill>
                  <a:srgbClr val="233036"/>
                </a:solidFill>
                <a:latin typeface="Aptos"/>
              </a:defRPr>
            </a:pPr>
            <a:r>
              <a:t>reduction/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7688" y="2267712"/>
            <a:ext cx="205740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0">
                <a:solidFill>
                  <a:srgbClr val="5E6C70"/>
                </a:solidFill>
                <a:latin typeface="Aptos"/>
              </a:defRPr>
            </a:pPr>
            <a:r>
              <a:t>Opérations physiques</a:t>
            </a:r>
            <a:br/>
            <a:r>
              <a:t>Corrections, géométrie</a:t>
            </a:r>
            <a:br/>
            <a:r>
              <a:t>Intégration et stitching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99448" y="1389888"/>
            <a:ext cx="2542032" cy="2103120"/>
          </a:xfrm>
          <a:prstGeom prst="roundRect">
            <a:avLst/>
          </a:prstGeom>
          <a:solidFill>
            <a:srgbClr val="FFF8DE"/>
          </a:solidFill>
          <a:ln>
            <a:solidFill>
              <a:srgbClr val="FFF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99448" y="1389888"/>
            <a:ext cx="2542032" cy="109728"/>
          </a:xfrm>
          <a:prstGeom prst="rect">
            <a:avLst/>
          </a:prstGeom>
          <a:solidFill>
            <a:srgbClr val="F3BE40"/>
          </a:solidFill>
          <a:ln>
            <a:solidFill>
              <a:srgbClr val="F3B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28048" y="1719072"/>
            <a:ext cx="2011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100" b="1">
                <a:solidFill>
                  <a:srgbClr val="233036"/>
                </a:solidFill>
                <a:latin typeface="Aptos"/>
              </a:defRPr>
            </a:pPr>
            <a:r>
              <a:t>schemas/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28048" y="2267712"/>
            <a:ext cx="205740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0">
                <a:solidFill>
                  <a:srgbClr val="5E6C70"/>
                </a:solidFill>
                <a:latin typeface="Aptos"/>
              </a:defRPr>
            </a:pPr>
            <a:r>
              <a:t>Profils NeXus</a:t>
            </a:r>
            <a:br/>
            <a:r>
              <a:t>Règles de validation</a:t>
            </a:r>
            <a:br/>
            <a:r>
              <a:t>Contrats de données portables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023360"/>
            <a:ext cx="10863072" cy="1517904"/>
          </a:xfrm>
          <a:prstGeom prst="roundRect">
            <a:avLst/>
          </a:prstGeom>
          <a:solidFill>
            <a:srgbClr val="F3F6F5"/>
          </a:solidFill>
          <a:ln w="12700">
            <a:solidFill>
              <a:srgbClr val="CED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270248"/>
            <a:ext cx="2057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233036"/>
                </a:solidFill>
                <a:latin typeface="Aptos"/>
              </a:defRPr>
            </a:pPr>
            <a:r>
              <a:t>Points d’entrée utilisateur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063240" y="4224528"/>
            <a:ext cx="1417320" cy="310896"/>
          </a:xfrm>
          <a:prstGeom prst="roundRect">
            <a:avLst/>
          </a:prstGeom>
          <a:solidFill>
            <a:srgbClr val="E7F2FA"/>
          </a:solidFill>
          <a:ln>
            <a:solidFill>
              <a:srgbClr val="E7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08960" y="4279392"/>
            <a:ext cx="13258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000" b="1">
                <a:solidFill>
                  <a:srgbClr val="2E88C7"/>
                </a:solidFill>
                <a:latin typeface="Aptos"/>
              </a:defRPr>
            </a:pPr>
            <a:r>
              <a:t>scarlet convert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09160" y="4224528"/>
            <a:ext cx="1417320" cy="310896"/>
          </a:xfrm>
          <a:prstGeom prst="roundRect">
            <a:avLst/>
          </a:prstGeom>
          <a:solidFill>
            <a:srgbClr val="FFF8DE"/>
          </a:solidFill>
          <a:ln>
            <a:solidFill>
              <a:srgbClr val="FFF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0" y="4279392"/>
            <a:ext cx="13258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000" b="1">
                <a:solidFill>
                  <a:srgbClr val="233036"/>
                </a:solidFill>
                <a:latin typeface="Aptos"/>
              </a:defRPr>
            </a:pPr>
            <a:r>
              <a:t>scarlet validate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55080" y="4224528"/>
            <a:ext cx="1508760" cy="310896"/>
          </a:xfrm>
          <a:prstGeom prst="roundRect">
            <a:avLst/>
          </a:prstGeom>
          <a:solidFill>
            <a:srgbClr val="E0F3F0"/>
          </a:solidFill>
          <a:ln>
            <a:solidFill>
              <a:srgbClr val="E0F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4279392"/>
            <a:ext cx="1417319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000" b="1">
                <a:solidFill>
                  <a:srgbClr val="005C56"/>
                </a:solidFill>
                <a:latin typeface="Aptos"/>
              </a:defRPr>
            </a:pPr>
            <a:r>
              <a:t>scarlet notebook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2440" y="4224528"/>
            <a:ext cx="1325880" cy="310896"/>
          </a:xfrm>
          <a:prstGeom prst="roundRect">
            <a:avLst/>
          </a:prstGeom>
          <a:solidFill>
            <a:srgbClr val="FCEBE5"/>
          </a:solidFill>
          <a:ln>
            <a:solidFill>
              <a:srgbClr val="FCE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38160" y="4279392"/>
            <a:ext cx="1234439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000" b="1">
                <a:solidFill>
                  <a:srgbClr val="E86946"/>
                </a:solidFill>
                <a:latin typeface="Aptos"/>
              </a:defRPr>
            </a:pPr>
            <a:r>
              <a:t>scarlet viewer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4892040"/>
            <a:ext cx="98755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0">
                <a:solidFill>
                  <a:srgbClr val="5E6C70"/>
                </a:solidFill>
                <a:latin typeface="Aptos"/>
              </a:defRPr>
            </a:pPr>
            <a:r>
              <a:t>Le notebook est la voie interactive principale de réduction ; la CLI et le viewer la complètent.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4" y="6537960"/>
            <a:ext cx="32918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0">
                <a:solidFill>
                  <a:srgbClr val="5E6C70"/>
                </a:solidFill>
                <a:latin typeface="Aptos"/>
              </a:defRPr>
            </a:pPr>
            <a:r>
              <a:t>SCARLET | Réduction de données SANS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56848" y="6537960"/>
            <a:ext cx="2743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900" b="0">
                <a:solidFill>
                  <a:srgbClr val="5E6C70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38328"/>
            <a:ext cx="457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007B7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" y="246888"/>
            <a:ext cx="105613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700" b="1">
                <a:solidFill>
                  <a:srgbClr val="233036"/>
                </a:solidFill>
                <a:latin typeface="Aptos"/>
              </a:defRPr>
            </a:pPr>
            <a:r>
              <a:t>WorkflowContext est le centre de contrôle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868680"/>
            <a:ext cx="11183112" cy="0"/>
          </a:xfrm>
          <a:prstGeom prst="line">
            <a:avLst/>
          </a:prstGeom>
          <a:ln>
            <a:solidFill>
              <a:srgbClr val="CED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24128" y="804672"/>
            <a:ext cx="102412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E6C70"/>
                </a:solidFill>
                <a:latin typeface="Aptos"/>
              </a:defRPr>
            </a:pPr>
            <a:r>
              <a:t>Il réunit métadonnées expérimentales, fichiers et choix de réduction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0832" y="2148840"/>
            <a:ext cx="3401568" cy="1463040"/>
          </a:xfrm>
          <a:prstGeom prst="roundRect">
            <a:avLst/>
          </a:prstGeom>
          <a:solidFill>
            <a:srgbClr val="E0F3F0"/>
          </a:solidFill>
          <a:ln w="17780">
            <a:solidFill>
              <a:srgbClr val="007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73168" y="2542032"/>
            <a:ext cx="26060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2300" b="1">
                <a:solidFill>
                  <a:srgbClr val="005C56"/>
                </a:solidFill>
                <a:latin typeface="Aptos"/>
              </a:defRPr>
            </a:pPr>
            <a:r>
              <a:t>WorkflowContext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2962656"/>
            <a:ext cx="25603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300" b="0">
                <a:solidFill>
                  <a:srgbClr val="5E6C70"/>
                </a:solidFill>
                <a:latin typeface="Aptos"/>
              </a:defRPr>
            </a:pPr>
            <a:r>
              <a:t>source unique de l’état du workflow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444752"/>
            <a:ext cx="2834640" cy="1143000"/>
          </a:xfrm>
          <a:prstGeom prst="roundRect">
            <a:avLst/>
          </a:prstGeom>
          <a:solidFill>
            <a:srgbClr val="E7F2FA"/>
          </a:solidFill>
          <a:ln w="12700">
            <a:solidFill>
              <a:srgbClr val="2E8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1627632"/>
            <a:ext cx="2286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233036"/>
                </a:solidFill>
                <a:latin typeface="Aptos"/>
              </a:defRPr>
            </a:pPr>
            <a:r>
              <a:t>Runs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" y="1947672"/>
            <a:ext cx="23317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E6C70"/>
                </a:solidFill>
                <a:latin typeface="Aptos"/>
              </a:defRPr>
            </a:pPr>
            <a:r>
              <a:t>sample, water, dark</a:t>
            </a:r>
            <a:br/>
            <a:r>
              <a:t>empty cell, beam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" y="4160520"/>
            <a:ext cx="2834640" cy="1143000"/>
          </a:xfrm>
          <a:prstGeom prst="roundRect">
            <a:avLst/>
          </a:prstGeom>
          <a:solidFill>
            <a:srgbClr val="E7F2FA"/>
          </a:solidFill>
          <a:ln w="12700">
            <a:solidFill>
              <a:srgbClr val="2E8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4343400"/>
            <a:ext cx="2286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233036"/>
                </a:solidFill>
                <a:latin typeface="Aptos"/>
              </a:defRPr>
            </a:pPr>
            <a:r>
              <a:t>Configurations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4663440"/>
            <a:ext cx="23317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E6C70"/>
                </a:solidFill>
                <a:latin typeface="Aptos"/>
              </a:defRPr>
            </a:pPr>
            <a:r>
              <a:t>distance, longueur d’onde</a:t>
            </a:r>
            <a:br/>
            <a:r>
              <a:t>centre du faisceau, ROI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02752" y="1444752"/>
            <a:ext cx="2834640" cy="1143000"/>
          </a:xfrm>
          <a:prstGeom prst="roundRect">
            <a:avLst/>
          </a:prstGeom>
          <a:solidFill>
            <a:srgbClr val="FCEBE5"/>
          </a:solidFill>
          <a:ln w="12700">
            <a:solidFill>
              <a:srgbClr val="E86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13064" y="1627632"/>
            <a:ext cx="2286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233036"/>
                </a:solidFill>
                <a:latin typeface="Aptos"/>
              </a:defRPr>
            </a:pPr>
            <a:r>
              <a:t>Références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13064" y="1947672"/>
            <a:ext cx="23317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E6C70"/>
                </a:solidFill>
                <a:latin typeface="Aptos"/>
              </a:defRPr>
            </a:pPr>
            <a:r>
              <a:t>source de transmission</a:t>
            </a:r>
            <a:br/>
            <a:r>
              <a:t>source de flatfield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02752" y="4160520"/>
            <a:ext cx="2834640" cy="1143000"/>
          </a:xfrm>
          <a:prstGeom prst="roundRect">
            <a:avLst/>
          </a:prstGeom>
          <a:solidFill>
            <a:srgbClr val="FCEBE5"/>
          </a:solidFill>
          <a:ln w="12700">
            <a:solidFill>
              <a:srgbClr val="E86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13064" y="4343400"/>
            <a:ext cx="2286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233036"/>
                </a:solidFill>
                <a:latin typeface="Aptos"/>
              </a:defRPr>
            </a:pPr>
            <a:r>
              <a:t>Artefacts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13064" y="4663440"/>
            <a:ext cx="23317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E6C70"/>
                </a:solidFill>
                <a:latin typeface="Aptos"/>
              </a:defRPr>
            </a:pPr>
            <a:r>
              <a:t>masques, sorties NeXus</a:t>
            </a:r>
            <a:br/>
            <a:r>
              <a:t>fichiers texte I(Q)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611880" y="2011680"/>
            <a:ext cx="704088" cy="512064"/>
          </a:xfrm>
          <a:prstGeom prst="line">
            <a:avLst/>
          </a:prstGeom>
          <a:ln w="25400">
            <a:solidFill>
              <a:srgbClr val="2E88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3611880" y="3255264"/>
            <a:ext cx="704088" cy="1316736"/>
          </a:xfrm>
          <a:prstGeom prst="line">
            <a:avLst/>
          </a:prstGeom>
          <a:ln w="25400">
            <a:solidFill>
              <a:srgbClr val="2E88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7827264" y="2011680"/>
            <a:ext cx="420624" cy="512064"/>
          </a:xfrm>
          <a:prstGeom prst="line">
            <a:avLst/>
          </a:prstGeom>
          <a:ln w="25400">
            <a:solidFill>
              <a:srgbClr val="E869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827264" y="3255264"/>
            <a:ext cx="420624" cy="1316736"/>
          </a:xfrm>
          <a:prstGeom prst="line">
            <a:avLst/>
          </a:prstGeom>
          <a:ln w="25400">
            <a:solidFill>
              <a:srgbClr val="E869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14400" y="5733288"/>
            <a:ext cx="102412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600" b="0">
                <a:solidFill>
                  <a:srgbClr val="005C56"/>
                </a:solidFill>
                <a:latin typeface="Aptos"/>
              </a:defRPr>
            </a:pPr>
            <a:r>
              <a:t>Sauvegarder et recharger workflow.nxs permet de reprendre une session de traitement.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" y="6537960"/>
            <a:ext cx="32918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0">
                <a:solidFill>
                  <a:srgbClr val="5E6C70"/>
                </a:solidFill>
                <a:latin typeface="Aptos"/>
              </a:defRPr>
            </a:pPr>
            <a:r>
              <a:t>SCARLET | Réduction de données SANS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56848" y="6537960"/>
            <a:ext cx="2743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900" b="0">
                <a:solidFill>
                  <a:srgbClr val="5E6C70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38328"/>
            <a:ext cx="457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007B73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" y="246888"/>
            <a:ext cx="105613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700" b="1">
                <a:solidFill>
                  <a:srgbClr val="233036"/>
                </a:solidFill>
                <a:latin typeface="Aptos"/>
              </a:defRPr>
            </a:pPr>
            <a:r>
              <a:t>Notebook 1 : initialiser l’expérience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868680"/>
            <a:ext cx="11183112" cy="0"/>
          </a:xfrm>
          <a:prstGeom prst="line">
            <a:avLst/>
          </a:prstGeom>
          <a:ln>
            <a:solidFill>
              <a:srgbClr val="CED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24128" y="804672"/>
            <a:ext cx="102412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E6C70"/>
                </a:solidFill>
                <a:latin typeface="Aptos"/>
              </a:defRPr>
            </a:pPr>
            <a:r>
              <a:t>Partir du répertoire brut et générer un workflow structuré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89888"/>
            <a:ext cx="4983480" cy="4224528"/>
          </a:xfrm>
          <a:prstGeom prst="roundRect">
            <a:avLst/>
          </a:prstGeom>
          <a:solidFill>
            <a:srgbClr val="1F2B2E"/>
          </a:solidFill>
          <a:ln>
            <a:solidFill>
              <a:srgbClr val="1F2B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554480"/>
            <a:ext cx="4581144" cy="38953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0">
                <a:solidFill>
                  <a:srgbClr val="E8F2F6"/>
                </a:solidFill>
                <a:latin typeface="Aptos Mono"/>
              </a:defRPr>
            </a:pPr>
            <a:r>
              <a:t>from scarlet.workflow.context import \</a:t>
            </a:r>
            <a:br/>
            <a:r>
              <a:t>    initialize_workflow_context_from_raw_directory</a:t>
            </a:r>
            <a:br/>
            <a:br/>
            <a:r>
              <a:t>w = initialize_workflow_context_from_raw_directory(</a:t>
            </a:r>
            <a:br/>
            <a:r>
              <a:t>    RAW_DIR,</a:t>
            </a:r>
            <a:br/>
            <a:r>
              <a:t>    instrument_name='sansllb',</a:t>
            </a:r>
            <a:br/>
            <a:r>
              <a:t>    transmission_strategy='opaque_beamstop',</a:t>
            </a:r>
            <a:br/>
            <a:r>
              <a:t>    output_dir=OUTPUT_DIR,</a:t>
            </a:r>
            <a:br/>
            <a:r>
              <a:t>    overwrite=True,</a:t>
            </a:r>
            <a:br/>
            <a:r>
              <a:t>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554480"/>
            <a:ext cx="438912" cy="438912"/>
          </a:xfrm>
          <a:prstGeom prst="roundRect">
            <a:avLst/>
          </a:prstGeom>
          <a:solidFill>
            <a:srgbClr val="2E88C7"/>
          </a:solidFill>
          <a:ln>
            <a:solidFill>
              <a:srgbClr val="2E8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99632" y="1627632"/>
            <a:ext cx="43891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03136" y="1545336"/>
            <a:ext cx="424281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233036"/>
                </a:solidFill>
                <a:latin typeface="Aptos"/>
              </a:defRPr>
            </a:pPr>
            <a:r>
              <a:t>Lire les fichiers bruts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03136" y="1819656"/>
            <a:ext cx="4242816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E6C70"/>
                </a:solidFill>
                <a:latin typeface="Aptos"/>
              </a:defRPr>
            </a:pPr>
            <a:r>
              <a:t>Découvrir les fichiers de mesure dans RAW_DIR.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2441448"/>
            <a:ext cx="438912" cy="438912"/>
          </a:xfrm>
          <a:prstGeom prst="roundRect">
            <a:avLst/>
          </a:prstGeom>
          <a:solidFill>
            <a:srgbClr val="007B73"/>
          </a:solidFill>
          <a:ln>
            <a:solidFill>
              <a:srgbClr val="007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9632" y="2514600"/>
            <a:ext cx="43891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03136" y="2432304"/>
            <a:ext cx="424281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233036"/>
                </a:solidFill>
                <a:latin typeface="Aptos"/>
              </a:defRPr>
            </a:pPr>
            <a:r>
              <a:t>Convertir si nécessaire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03136" y="2706624"/>
            <a:ext cx="4242816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E6C70"/>
                </a:solidFill>
                <a:latin typeface="Aptos"/>
              </a:defRPr>
            </a:pPr>
            <a:r>
              <a:t>Utiliser le convertisseur instrument et écrire les fichiers NeXus SCARLET.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3328416"/>
            <a:ext cx="438912" cy="438912"/>
          </a:xfrm>
          <a:prstGeom prst="roundRect">
            <a:avLst/>
          </a:prstGeom>
          <a:solidFill>
            <a:srgbClr val="E86946"/>
          </a:solidFill>
          <a:ln>
            <a:solidFill>
              <a:srgbClr val="E86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99632" y="3401568"/>
            <a:ext cx="43891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3136" y="3319272"/>
            <a:ext cx="424281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233036"/>
                </a:solidFill>
                <a:latin typeface="Aptos"/>
              </a:defRPr>
            </a:pPr>
            <a:r>
              <a:t>Déduire le contexte expérimental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03136" y="3593592"/>
            <a:ext cx="4242816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E6C70"/>
                </a:solidFill>
                <a:latin typeface="Aptos"/>
              </a:defRPr>
            </a:pPr>
            <a:r>
              <a:t>Collecter runs, configurations et ROI initiales de transmission.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9632" y="4215384"/>
            <a:ext cx="438912" cy="438912"/>
          </a:xfrm>
          <a:prstGeom prst="roundRect">
            <a:avLst/>
          </a:prstGeom>
          <a:solidFill>
            <a:srgbClr val="F3BE40"/>
          </a:solidFill>
          <a:ln>
            <a:solidFill>
              <a:srgbClr val="F3B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9632" y="4288536"/>
            <a:ext cx="43891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03136" y="4206240"/>
            <a:ext cx="424281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233036"/>
                </a:solidFill>
                <a:latin typeface="Aptos"/>
              </a:defRPr>
            </a:pPr>
            <a:r>
              <a:t>Créer le répertoire de sortie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03136" y="4480560"/>
            <a:ext cx="4242816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E6C70"/>
                </a:solidFill>
                <a:latin typeface="Aptos"/>
              </a:defRPr>
            </a:pPr>
            <a:r>
              <a:t>Conserver ensemble données générées et artefacts du workflow.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9632" y="5257800"/>
            <a:ext cx="48463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5E6C70"/>
                </a:solidFill>
                <a:latin typeface="Aptos"/>
              </a:defRPr>
            </a:pPr>
            <a:r>
              <a:t>Principe du notebook : les paramètres restent visibles dans la cellule et peuvent être relus avec l’analyse.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" y="6537960"/>
            <a:ext cx="32918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0">
                <a:solidFill>
                  <a:srgbClr val="5E6C70"/>
                </a:solidFill>
                <a:latin typeface="Aptos"/>
              </a:defRPr>
            </a:pPr>
            <a:r>
              <a:t>SCARLET | Réduction de données SANS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56848" y="6537960"/>
            <a:ext cx="2743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900" b="0">
                <a:solidFill>
                  <a:srgbClr val="5E6C70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38328"/>
            <a:ext cx="457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007B73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" y="246888"/>
            <a:ext cx="105613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700" b="1">
                <a:solidFill>
                  <a:srgbClr val="233036"/>
                </a:solidFill>
                <a:latin typeface="Aptos"/>
              </a:defRPr>
            </a:pPr>
            <a:r>
              <a:t>Notebook 2 : organiser la table des runs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868680"/>
            <a:ext cx="11183112" cy="0"/>
          </a:xfrm>
          <a:prstGeom prst="line">
            <a:avLst/>
          </a:prstGeom>
          <a:ln>
            <a:solidFill>
              <a:srgbClr val="CED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24128" y="804672"/>
            <a:ext cx="102412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E6C70"/>
                </a:solidFill>
                <a:latin typeface="Aptos"/>
              </a:defRPr>
            </a:pPr>
            <a:r>
              <a:t>L’utilisateur valide le sens expérimental avant tout calcul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63040"/>
            <a:ext cx="5074920" cy="3401568"/>
          </a:xfrm>
          <a:prstGeom prst="roundRect">
            <a:avLst/>
          </a:prstGeom>
          <a:solidFill>
            <a:srgbClr val="1F2B2E"/>
          </a:solidFill>
          <a:ln>
            <a:solidFill>
              <a:srgbClr val="1F2B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627632"/>
            <a:ext cx="4672583" cy="30723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0">
                <a:solidFill>
                  <a:srgbClr val="E8F2F6"/>
                </a:solidFill>
                <a:latin typeface="Aptos Mono"/>
              </a:defRPr>
            </a:pPr>
            <a:r>
              <a:t>w.write_runs_table_csv('runs_table.csv', overwrite=True)</a:t>
            </a:r>
            <a:br/>
            <a:br/>
            <a:r>
              <a:t># Edit a copy, then load it back</a:t>
            </a:r>
            <a:br/>
            <a:r>
              <a:t>w.update_from_runs_table_csv('runs_filtered.csv')</a:t>
            </a:r>
            <a:br/>
            <a:r>
              <a:t>w.runs_table()</a:t>
            </a:r>
            <a:br/>
            <a:r>
              <a:t>w.configurations_table()</a:t>
            </a:r>
            <a:br/>
            <a:br/>
            <a:r>
              <a:t>w.save('workflow.nxs', overwrite=True)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481328"/>
            <a:ext cx="3840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800" b="1">
                <a:solidFill>
                  <a:srgbClr val="233036"/>
                </a:solidFill>
                <a:latin typeface="Aptos"/>
              </a:defRPr>
            </a:pPr>
            <a:r>
              <a:t>Informations portées par la table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975104"/>
            <a:ext cx="1554480" cy="438912"/>
          </a:xfrm>
          <a:prstGeom prst="rect">
            <a:avLst/>
          </a:prstGeom>
          <a:solidFill>
            <a:srgbClr val="E0F3F0"/>
          </a:solidFill>
          <a:ln>
            <a:solidFill>
              <a:srgbClr val="E0F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91072" y="2103120"/>
            <a:ext cx="129844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005C56"/>
                </a:solidFill>
                <a:latin typeface="Aptos"/>
              </a:defRPr>
            </a:pPr>
            <a:r>
              <a:t>entity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26679" y="1975104"/>
            <a:ext cx="3611880" cy="438912"/>
          </a:xfrm>
          <a:prstGeom prst="rect">
            <a:avLst/>
          </a:prstGeom>
          <a:solidFill>
            <a:srgbClr val="F3F6F5"/>
          </a:solidFill>
          <a:ln>
            <a:solidFill>
              <a:srgbClr val="F3F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0" y="2103120"/>
            <a:ext cx="327355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0">
                <a:solidFill>
                  <a:srgbClr val="233036"/>
                </a:solidFill>
                <a:latin typeface="Aptos"/>
              </a:defRPr>
            </a:pPr>
            <a:r>
              <a:t>sample, water, empty_cell, dark, empty_beam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2532888"/>
            <a:ext cx="1554480" cy="438912"/>
          </a:xfrm>
          <a:prstGeom prst="rect">
            <a:avLst/>
          </a:prstGeom>
          <a:solidFill>
            <a:srgbClr val="E0F3F0"/>
          </a:solidFill>
          <a:ln>
            <a:solidFill>
              <a:srgbClr val="E0F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91072" y="2660904"/>
            <a:ext cx="129844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005C56"/>
                </a:solidFill>
                <a:latin typeface="Aptos"/>
              </a:defRPr>
            </a:pPr>
            <a:r>
              <a:t>mode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26679" y="2532888"/>
            <a:ext cx="3611880" cy="438912"/>
          </a:xfrm>
          <a:prstGeom prst="rect">
            <a:avLst/>
          </a:prstGeom>
          <a:solidFill>
            <a:srgbClr val="F3F6F5"/>
          </a:solidFill>
          <a:ln>
            <a:solidFill>
              <a:srgbClr val="F3F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2660904"/>
            <a:ext cx="327355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0">
                <a:solidFill>
                  <a:srgbClr val="233036"/>
                </a:solidFill>
                <a:latin typeface="Aptos"/>
              </a:defRPr>
            </a:pPr>
            <a:r>
              <a:t>scattering ou transmission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3090672"/>
            <a:ext cx="1554480" cy="438912"/>
          </a:xfrm>
          <a:prstGeom prst="rect">
            <a:avLst/>
          </a:prstGeom>
          <a:solidFill>
            <a:srgbClr val="E0F3F0"/>
          </a:solidFill>
          <a:ln>
            <a:solidFill>
              <a:srgbClr val="E0F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91072" y="3218688"/>
            <a:ext cx="129844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005C56"/>
                </a:solidFill>
                <a:latin typeface="Aptos"/>
              </a:defRPr>
            </a:pPr>
            <a:r>
              <a:t>nom échantillon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26679" y="3090672"/>
            <a:ext cx="3611880" cy="438912"/>
          </a:xfrm>
          <a:prstGeom prst="rect">
            <a:avLst/>
          </a:prstGeom>
          <a:solidFill>
            <a:srgbClr val="F3F6F5"/>
          </a:solidFill>
          <a:ln>
            <a:solidFill>
              <a:srgbClr val="F3F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0" y="3218688"/>
            <a:ext cx="327355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0">
                <a:solidFill>
                  <a:srgbClr val="233036"/>
                </a:solidFill>
                <a:latin typeface="Aptos"/>
              </a:defRPr>
            </a:pPr>
            <a:r>
              <a:t>identifiant de l’échantillon pour le pipeline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3648456"/>
            <a:ext cx="1554480" cy="438912"/>
          </a:xfrm>
          <a:prstGeom prst="rect">
            <a:avLst/>
          </a:prstGeom>
          <a:solidFill>
            <a:srgbClr val="E0F3F0"/>
          </a:solidFill>
          <a:ln>
            <a:solidFill>
              <a:srgbClr val="E0F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91072" y="3776472"/>
            <a:ext cx="129844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005C56"/>
                </a:solidFill>
                <a:latin typeface="Aptos"/>
              </a:defRPr>
            </a:pPr>
            <a:r>
              <a:t>configuration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26679" y="3648456"/>
            <a:ext cx="3611880" cy="438912"/>
          </a:xfrm>
          <a:prstGeom prst="rect">
            <a:avLst/>
          </a:prstGeom>
          <a:solidFill>
            <a:srgbClr val="F3F6F5"/>
          </a:solidFill>
          <a:ln>
            <a:solidFill>
              <a:srgbClr val="F3F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63840" y="3776472"/>
            <a:ext cx="327355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0">
                <a:solidFill>
                  <a:srgbClr val="233036"/>
                </a:solidFill>
                <a:latin typeface="Aptos"/>
              </a:defRPr>
            </a:pPr>
            <a:r>
              <a:t>réglage instrumental de la mesure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4206240"/>
            <a:ext cx="1554480" cy="438912"/>
          </a:xfrm>
          <a:prstGeom prst="rect">
            <a:avLst/>
          </a:prstGeom>
          <a:solidFill>
            <a:srgbClr val="E0F3F0"/>
          </a:solidFill>
          <a:ln>
            <a:solidFill>
              <a:srgbClr val="E0F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91072" y="4334255"/>
            <a:ext cx="129844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005C56"/>
                </a:solidFill>
                <a:latin typeface="Aptos"/>
              </a:defRPr>
            </a:pPr>
            <a:r>
              <a:t>épaisseur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26679" y="4206240"/>
            <a:ext cx="3611880" cy="438912"/>
          </a:xfrm>
          <a:prstGeom prst="rect">
            <a:avLst/>
          </a:prstGeom>
          <a:solidFill>
            <a:srgbClr val="F3F6F5"/>
          </a:solidFill>
          <a:ln>
            <a:solidFill>
              <a:srgbClr val="F3F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0" y="4334255"/>
            <a:ext cx="327355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0">
                <a:solidFill>
                  <a:srgbClr val="233036"/>
                </a:solidFill>
                <a:latin typeface="Aptos"/>
              </a:defRPr>
            </a:pPr>
            <a:r>
              <a:t>normalisation par épaisseur quand disponible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376672"/>
            <a:ext cx="106070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0">
                <a:solidFill>
                  <a:srgbClr val="E86946"/>
                </a:solidFill>
                <a:latin typeface="Aptos"/>
              </a:defRPr>
            </a:pPr>
            <a:r>
              <a:t>Cette revue évite qu’une réduction techniquement valide utilise une référence ou une configuration erronée.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" y="6537960"/>
            <a:ext cx="32918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0">
                <a:solidFill>
                  <a:srgbClr val="5E6C70"/>
                </a:solidFill>
                <a:latin typeface="Aptos"/>
              </a:defRPr>
            </a:pPr>
            <a:r>
              <a:t>SCARLET | Réduction de données SANS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56848" y="6537960"/>
            <a:ext cx="2743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900" b="0">
                <a:solidFill>
                  <a:srgbClr val="5E6C70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38328"/>
            <a:ext cx="457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007B73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" y="246888"/>
            <a:ext cx="105613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700" b="1">
                <a:solidFill>
                  <a:srgbClr val="233036"/>
                </a:solidFill>
                <a:latin typeface="Aptos"/>
              </a:defRPr>
            </a:pPr>
            <a:r>
              <a:t>Notebook 3 : calculer et réutiliser la transmission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868680"/>
            <a:ext cx="11183112" cy="0"/>
          </a:xfrm>
          <a:prstGeom prst="line">
            <a:avLst/>
          </a:prstGeom>
          <a:ln>
            <a:solidFill>
              <a:srgbClr val="CED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24128" y="804672"/>
            <a:ext cx="102412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E6C70"/>
                </a:solidFill>
                <a:latin typeface="Aptos"/>
              </a:defRPr>
            </a:pPr>
            <a:r>
              <a:t>La transmission est évaluée par échantillon et configuration à partir d’une ROI détecteur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1417320"/>
            <a:ext cx="4663440" cy="3566160"/>
          </a:xfrm>
          <a:prstGeom prst="roundRect">
            <a:avLst/>
          </a:prstGeom>
          <a:solidFill>
            <a:srgbClr val="1F2B2E"/>
          </a:solidFill>
          <a:ln>
            <a:solidFill>
              <a:srgbClr val="1F2B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81912"/>
            <a:ext cx="4261103" cy="32369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0">
                <a:solidFill>
                  <a:srgbClr val="E8F2F6"/>
                </a:solidFill>
                <a:latin typeface="Aptos Mono"/>
              </a:defRPr>
            </a:pPr>
            <a:r>
              <a:t>w.compute_transmissions()</a:t>
            </a:r>
            <a:br/>
            <a:r>
              <a:t>w.write_runs_table_csv('runs_with_transmission.csv',</a:t>
            </a:r>
            <a:br/>
            <a:r>
              <a:t>                       overwrite=True)</a:t>
            </a:r>
            <a:br/>
            <a:br/>
            <a:r>
              <a:t># Reuse a compatible measurement</a:t>
            </a:r>
            <a:br/>
            <a:r>
              <a:t>w.set_transmission_source(</a:t>
            </a:r>
            <a:br/>
            <a:r>
              <a:t>    config_id='config_2',</a:t>
            </a:r>
            <a:br/>
            <a:r>
              <a:t>    source_config_id='config_4',</a:t>
            </a:r>
            <a:br/>
            <a:r>
              <a:t>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1572768"/>
            <a:ext cx="5148072" cy="2816352"/>
          </a:xfrm>
          <a:prstGeom prst="roundRect">
            <a:avLst/>
          </a:prstGeom>
          <a:solidFill>
            <a:srgbClr val="F3F6F5"/>
          </a:solidFill>
          <a:ln w="12700">
            <a:solidFill>
              <a:srgbClr val="CED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27648" y="1847088"/>
            <a:ext cx="21945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800" b="1">
                <a:solidFill>
                  <a:srgbClr val="233036"/>
                </a:solidFill>
                <a:latin typeface="Aptos"/>
              </a:defRPr>
            </a:pPr>
            <a:r>
              <a:t>Logique de transmission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27648" y="2267712"/>
            <a:ext cx="438912" cy="438912"/>
          </a:xfrm>
          <a:prstGeom prst="roundRect">
            <a:avLst/>
          </a:prstGeom>
          <a:solidFill>
            <a:srgbClr val="2E88C7"/>
          </a:solidFill>
          <a:ln>
            <a:solidFill>
              <a:srgbClr val="2E8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27648" y="2340864"/>
            <a:ext cx="43891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31152" y="2258568"/>
            <a:ext cx="369417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233036"/>
                </a:solidFill>
                <a:latin typeface="Aptos"/>
              </a:defRPr>
            </a:pPr>
            <a:r>
              <a:t>ROI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31152" y="2532888"/>
            <a:ext cx="3694176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E6C70"/>
                </a:solidFill>
                <a:latin typeface="Aptos"/>
              </a:defRPr>
            </a:pPr>
            <a:r>
              <a:t>Utiliser la région du détecteur central définie pour la configuration.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7648" y="2926080"/>
            <a:ext cx="438912" cy="438912"/>
          </a:xfrm>
          <a:prstGeom prst="roundRect">
            <a:avLst/>
          </a:prstGeom>
          <a:solidFill>
            <a:srgbClr val="007B73"/>
          </a:solidFill>
          <a:ln>
            <a:solidFill>
              <a:srgbClr val="007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2999232"/>
            <a:ext cx="43891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31152" y="2916936"/>
            <a:ext cx="369417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233036"/>
                </a:solidFill>
                <a:latin typeface="Aptos"/>
              </a:defRPr>
            </a:pPr>
            <a:r>
              <a:t>Calculer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31152" y="3191256"/>
            <a:ext cx="3694176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E6C70"/>
                </a:solidFill>
                <a:latin typeface="Aptos"/>
              </a:defRPr>
            </a:pPr>
            <a:r>
              <a:t>Stocker la transmission avec le run correspondant.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27648" y="3584448"/>
            <a:ext cx="438912" cy="438912"/>
          </a:xfrm>
          <a:prstGeom prst="roundRect">
            <a:avLst/>
          </a:prstGeom>
          <a:solidFill>
            <a:srgbClr val="E86946"/>
          </a:solidFill>
          <a:ln>
            <a:solidFill>
              <a:srgbClr val="E86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3657600"/>
            <a:ext cx="43891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31152" y="3575304"/>
            <a:ext cx="369417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233036"/>
                </a:solidFill>
                <a:latin typeface="Aptos"/>
              </a:defRPr>
            </a:pPr>
            <a:r>
              <a:t>Déclarer la source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31152" y="3849624"/>
            <a:ext cx="3694176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E6C70"/>
                </a:solidFill>
                <a:latin typeface="Aptos"/>
              </a:defRPr>
            </a:pPr>
            <a:r>
              <a:t>Partager explicitement une transmission compatible entre configurations.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" y="5413248"/>
            <a:ext cx="102412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600" b="0">
                <a:solidFill>
                  <a:srgbClr val="005C56"/>
                </a:solidFill>
                <a:latin typeface="Aptos"/>
              </a:defRPr>
            </a:pPr>
            <a:r>
              <a:t>La relation de source est déclarée, elle n’est pas cachée dans des variables de notebook.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" y="6537960"/>
            <a:ext cx="32918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0">
                <a:solidFill>
                  <a:srgbClr val="5E6C70"/>
                </a:solidFill>
                <a:latin typeface="Aptos"/>
              </a:defRPr>
            </a:pPr>
            <a:r>
              <a:t>SCARLET | Réduction de données SANS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56848" y="6537960"/>
            <a:ext cx="2743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900" b="0">
                <a:solidFill>
                  <a:srgbClr val="5E6C70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38328"/>
            <a:ext cx="457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007B73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" y="246888"/>
            <a:ext cx="105613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700" b="1">
                <a:solidFill>
                  <a:srgbClr val="233036"/>
                </a:solidFill>
                <a:latin typeface="Aptos"/>
              </a:defRPr>
            </a:pPr>
            <a:r>
              <a:t>Notebook 4 : masques et normalisation eau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868680"/>
            <a:ext cx="11183112" cy="0"/>
          </a:xfrm>
          <a:prstGeom prst="line">
            <a:avLst/>
          </a:prstGeom>
          <a:ln>
            <a:solidFill>
              <a:srgbClr val="CED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24128" y="804672"/>
            <a:ext cx="102412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E6C70"/>
                </a:solidFill>
                <a:latin typeface="Aptos"/>
              </a:defRPr>
            </a:pPr>
            <a:r>
              <a:t>Préparer les corrections détecteur qui seront utilisées par le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" y="1389888"/>
            <a:ext cx="5230368" cy="4069080"/>
          </a:xfrm>
          <a:prstGeom prst="roundRect">
            <a:avLst/>
          </a:prstGeom>
          <a:solidFill>
            <a:srgbClr val="E7F2FA"/>
          </a:solidFill>
          <a:ln>
            <a:solidFill>
              <a:srgbClr val="E7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737360"/>
            <a:ext cx="1828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100" b="1">
                <a:solidFill>
                  <a:srgbClr val="233036"/>
                </a:solidFill>
                <a:latin typeface="Aptos"/>
              </a:defRPr>
            </a:pPr>
            <a:r>
              <a:t>Masques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240280"/>
            <a:ext cx="44805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0">
                <a:solidFill>
                  <a:srgbClr val="5E6C70"/>
                </a:solidFill>
                <a:latin typeface="Aptos"/>
              </a:defRPr>
            </a:pPr>
            <a:r>
              <a:t>Les masques sont édités dans le viewer SCARLET, sauvegardés avec les données de sortie, puis attachés au workflow.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7552" y="3108960"/>
            <a:ext cx="4553712" cy="1069848"/>
          </a:xfrm>
          <a:prstGeom prst="roundRect">
            <a:avLst/>
          </a:prstGeom>
          <a:solidFill>
            <a:srgbClr val="1F2B2E"/>
          </a:solidFill>
          <a:ln>
            <a:solidFill>
              <a:srgbClr val="1F2B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273552"/>
            <a:ext cx="4151376" cy="7406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0">
                <a:solidFill>
                  <a:srgbClr val="E8F2F6"/>
                </a:solidFill>
                <a:latin typeface="Aptos Mono"/>
              </a:defRPr>
            </a:pPr>
            <a:r>
              <a:t>w.attach_mask_bundles_from_output_dir()</a:t>
            </a:r>
            <a:br/>
            <a:r>
              <a:t># or: w.set_mask_file(config_id=...,</a:t>
            </a:r>
            <a:br/>
            <a:r>
              <a:t>#                     file_path=...)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4718304"/>
            <a:ext cx="44348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2E88C7"/>
                </a:solidFill>
                <a:latin typeface="Aptos"/>
              </a:defRPr>
            </a:pPr>
            <a:r>
              <a:t>Ils excluent les régions du détecteur avant l’intégration.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2784" y="1389888"/>
            <a:ext cx="5230368" cy="4069080"/>
          </a:xfrm>
          <a:prstGeom prst="roundRect">
            <a:avLst/>
          </a:prstGeom>
          <a:solidFill>
            <a:srgbClr val="E0F3F0"/>
          </a:solidFill>
          <a:ln>
            <a:solidFill>
              <a:srgbClr val="E0F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737360"/>
            <a:ext cx="24688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100" b="1">
                <a:solidFill>
                  <a:srgbClr val="233036"/>
                </a:solidFill>
                <a:latin typeface="Aptos"/>
              </a:defRPr>
            </a:pPr>
            <a:r>
              <a:t>Flatfield eau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240280"/>
            <a:ext cx="44805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0">
                <a:solidFill>
                  <a:srgbClr val="5E6C70"/>
                </a:solidFill>
                <a:latin typeface="Aptos"/>
              </a:defRPr>
            </a:pPr>
            <a:r>
              <a:t>Un run d’eau construit un flatfield pour une configuration. Une configuration compatible peut être réutilisée explicitement.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3108960"/>
            <a:ext cx="4553712" cy="1069848"/>
          </a:xfrm>
          <a:prstGeom prst="roundRect">
            <a:avLst/>
          </a:prstGeom>
          <a:solidFill>
            <a:srgbClr val="1F2B2E"/>
          </a:solidFill>
          <a:ln>
            <a:solidFill>
              <a:srgbClr val="1F2B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84848" y="3273552"/>
            <a:ext cx="4151376" cy="7406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0">
                <a:solidFill>
                  <a:srgbClr val="E8F2F6"/>
                </a:solidFill>
                <a:latin typeface="Aptos Mono"/>
              </a:defRPr>
            </a:pPr>
            <a:r>
              <a:t>w.build_water_flatfield(config_id='config_10')</a:t>
            </a:r>
            <a:br/>
            <a:r>
              <a:t>w.set_flatfield_source(</a:t>
            </a:r>
            <a:br/>
            <a:r>
              <a:t>    config_id='config_9',</a:t>
            </a:r>
            <a:br/>
            <a:r>
              <a:t>    source_config_id='config_10',</a:t>
            </a:r>
            <a:br/>
            <a:r>
              <a:t>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718304"/>
            <a:ext cx="44348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005C56"/>
                </a:solidFill>
                <a:latin typeface="Aptos"/>
              </a:defRPr>
            </a:pPr>
            <a:r>
              <a:t>Le pipeline applique ensuite les corrections de flatfield et d’angle solide.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" y="6537960"/>
            <a:ext cx="32918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0">
                <a:solidFill>
                  <a:srgbClr val="5E6C70"/>
                </a:solidFill>
                <a:latin typeface="Aptos"/>
              </a:defRPr>
            </a:pPr>
            <a:r>
              <a:t>SCARLET | Réduction de données SANS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56848" y="6537960"/>
            <a:ext cx="2743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900" b="0">
                <a:solidFill>
                  <a:srgbClr val="5E6C70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38328"/>
            <a:ext cx="457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007B73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" y="246888"/>
            <a:ext cx="105613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700" b="1">
                <a:solidFill>
                  <a:srgbClr val="233036"/>
                </a:solidFill>
                <a:latin typeface="Aptos"/>
              </a:defRPr>
            </a:pPr>
            <a:r>
              <a:t>Notebook 5 : exécuter le pipeline de réduction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868680"/>
            <a:ext cx="11183112" cy="0"/>
          </a:xfrm>
          <a:prstGeom prst="line">
            <a:avLst/>
          </a:prstGeom>
          <a:ln>
            <a:solidFill>
              <a:srgbClr val="CED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24128" y="804672"/>
            <a:ext cx="102412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E6C70"/>
                </a:solidFill>
                <a:latin typeface="Aptos"/>
              </a:defRPr>
            </a:pPr>
            <a:r>
              <a:t>Un appel exécute une séquence nommée d’étapes de traitement physique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26464"/>
            <a:ext cx="3337560" cy="1234440"/>
          </a:xfrm>
          <a:prstGeom prst="roundRect">
            <a:avLst/>
          </a:prstGeom>
          <a:solidFill>
            <a:srgbClr val="E7F2FA"/>
          </a:solidFill>
          <a:ln>
            <a:solidFill>
              <a:srgbClr val="E7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9536" y="1655064"/>
            <a:ext cx="411480" cy="411480"/>
          </a:xfrm>
          <a:prstGeom prst="roundRect">
            <a:avLst/>
          </a:prstGeom>
          <a:solidFill>
            <a:srgbClr val="2E88C7"/>
          </a:solidFill>
          <a:ln>
            <a:solidFill>
              <a:srgbClr val="2E8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737360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627632"/>
            <a:ext cx="21945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233036"/>
                </a:solidFill>
                <a:latin typeface="Aptos"/>
              </a:defRPr>
            </a:pPr>
            <a:r>
              <a:t>Charger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011680"/>
            <a:ext cx="22402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E6C70"/>
                </a:solidFill>
                <a:latin typeface="Aptos"/>
              </a:defRPr>
            </a:pPr>
            <a:r>
              <a:t>Corrections moniteur et temps mort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426464"/>
            <a:ext cx="3337560" cy="1234440"/>
          </a:xfrm>
          <a:prstGeom prst="roundRect">
            <a:avLst/>
          </a:prstGeom>
          <a:solidFill>
            <a:srgbClr val="FCEBE5"/>
          </a:solidFill>
          <a:ln>
            <a:solidFill>
              <a:srgbClr val="FCE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36007" y="1655064"/>
            <a:ext cx="411480" cy="411480"/>
          </a:xfrm>
          <a:prstGeom prst="roundRect">
            <a:avLst/>
          </a:prstGeom>
          <a:solidFill>
            <a:srgbClr val="E86946"/>
          </a:solidFill>
          <a:ln>
            <a:solidFill>
              <a:srgbClr val="E86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7" y="1737360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9512" y="1627632"/>
            <a:ext cx="21945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233036"/>
                </a:solidFill>
                <a:latin typeface="Aptos"/>
              </a:defRPr>
            </a:pPr>
            <a:r>
              <a:t>Soustraire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9512" y="2011680"/>
            <a:ext cx="22402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E6C70"/>
                </a:solidFill>
                <a:latin typeface="Aptos"/>
              </a:defRPr>
            </a:pPr>
            <a:r>
              <a:t>Références dark et cellule vide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11312" y="1426464"/>
            <a:ext cx="3337560" cy="1234440"/>
          </a:xfrm>
          <a:prstGeom prst="roundRect">
            <a:avLst/>
          </a:prstGeom>
          <a:solidFill>
            <a:srgbClr val="E0F3F0"/>
          </a:solidFill>
          <a:ln>
            <a:solidFill>
              <a:srgbClr val="E0F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80" y="1655064"/>
            <a:ext cx="411480" cy="411480"/>
          </a:xfrm>
          <a:prstGeom prst="roundRect">
            <a:avLst/>
          </a:prstGeom>
          <a:solidFill>
            <a:srgbClr val="007B73"/>
          </a:solidFill>
          <a:ln>
            <a:solidFill>
              <a:srgbClr val="007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1737360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15984" y="1627632"/>
            <a:ext cx="21945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233036"/>
                </a:solidFill>
                <a:latin typeface="Aptos"/>
              </a:defRPr>
            </a:pPr>
            <a:r>
              <a:t>Normaliser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15984" y="2011680"/>
            <a:ext cx="22402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E6C70"/>
                </a:solidFill>
                <a:latin typeface="Aptos"/>
              </a:defRPr>
            </a:pPr>
            <a:r>
              <a:t>Flatfield eau et angle solide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182112"/>
            <a:ext cx="3337560" cy="1234440"/>
          </a:xfrm>
          <a:prstGeom prst="roundRect">
            <a:avLst/>
          </a:prstGeom>
          <a:solidFill>
            <a:srgbClr val="FFF8DE"/>
          </a:solidFill>
          <a:ln>
            <a:solidFill>
              <a:srgbClr val="FFF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59536" y="3410712"/>
            <a:ext cx="411480" cy="411480"/>
          </a:xfrm>
          <a:prstGeom prst="roundRect">
            <a:avLst/>
          </a:prstGeom>
          <a:solidFill>
            <a:srgbClr val="F3BE40"/>
          </a:solidFill>
          <a:ln>
            <a:solidFill>
              <a:srgbClr val="F3B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" y="3493008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3383280"/>
            <a:ext cx="21945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233036"/>
                </a:solidFill>
                <a:latin typeface="Aptos"/>
              </a:defRPr>
            </a:pPr>
            <a:r>
              <a:t>Mettre à l’échelle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3767328"/>
            <a:ext cx="22402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E6C70"/>
                </a:solidFill>
                <a:latin typeface="Aptos"/>
              </a:defRPr>
            </a:pPr>
            <a:r>
              <a:t>Épaisseur de l’échantillon si disponible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34840" y="3182112"/>
            <a:ext cx="3337560" cy="1234440"/>
          </a:xfrm>
          <a:prstGeom prst="roundRect">
            <a:avLst/>
          </a:prstGeom>
          <a:solidFill>
            <a:srgbClr val="E7F2FA"/>
          </a:solidFill>
          <a:ln>
            <a:solidFill>
              <a:srgbClr val="E7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636007" y="3410712"/>
            <a:ext cx="411480" cy="411480"/>
          </a:xfrm>
          <a:prstGeom prst="roundRect">
            <a:avLst/>
          </a:prstGeom>
          <a:solidFill>
            <a:srgbClr val="2E88C7"/>
          </a:solidFill>
          <a:ln>
            <a:solidFill>
              <a:srgbClr val="2E8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36007" y="3493008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39512" y="3383280"/>
            <a:ext cx="21945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233036"/>
                </a:solidFill>
                <a:latin typeface="Aptos"/>
              </a:defRPr>
            </a:pPr>
            <a:r>
              <a:t>Intégrer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39512" y="3767328"/>
            <a:ext cx="22402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E6C70"/>
                </a:solidFill>
                <a:latin typeface="Aptos"/>
              </a:defRPr>
            </a:pPr>
            <a:r>
              <a:t>Moyenne azimutale vers I(Q)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11312" y="3182112"/>
            <a:ext cx="3337560" cy="1234440"/>
          </a:xfrm>
          <a:prstGeom prst="roundRect">
            <a:avLst/>
          </a:prstGeom>
          <a:solidFill>
            <a:srgbClr val="E0F3F0"/>
          </a:solidFill>
          <a:ln>
            <a:solidFill>
              <a:srgbClr val="E0F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412480" y="3410712"/>
            <a:ext cx="411480" cy="411480"/>
          </a:xfrm>
          <a:prstGeom prst="roundRect">
            <a:avLst/>
          </a:prstGeom>
          <a:solidFill>
            <a:srgbClr val="007B73"/>
          </a:solidFill>
          <a:ln>
            <a:solidFill>
              <a:srgbClr val="007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0" y="3493008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15984" y="3383280"/>
            <a:ext cx="21945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233036"/>
                </a:solidFill>
                <a:latin typeface="Aptos"/>
              </a:defRPr>
            </a:pPr>
            <a:r>
              <a:t>Écrire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15984" y="3767328"/>
            <a:ext cx="22402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E6C70"/>
                </a:solidFill>
                <a:latin typeface="Aptos"/>
              </a:defRPr>
            </a:pPr>
            <a:r>
              <a:t>Sorties NeXus traitées et texte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76656" y="5056632"/>
            <a:ext cx="10826496" cy="768096"/>
          </a:xfrm>
          <a:prstGeom prst="roundRect">
            <a:avLst/>
          </a:prstGeom>
          <a:solidFill>
            <a:srgbClr val="1F2B2E"/>
          </a:solidFill>
          <a:ln>
            <a:solidFill>
              <a:srgbClr val="1F2B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7824" y="5221224"/>
            <a:ext cx="104241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0">
                <a:solidFill>
                  <a:srgbClr val="E8F2F6"/>
                </a:solidFill>
                <a:latin typeface="Aptos Mono"/>
              </a:defRPr>
            </a:pPr>
            <a:r>
              <a:t>pipeline = ReductionPipeline.default()</a:t>
            </a:r>
            <a:br/>
            <a:r>
              <a:t>state = pipeline.run_for_sample(</a:t>
            </a:r>
            <a:br/>
            <a:r>
              <a:t>    workflow=w, sample_name='ludox_SM30', config_id='config_9'</a:t>
            </a:r>
            <a:br/>
            <a:r>
              <a:t>)</a:t>
            </a:r>
            <a:br/>
            <a:br/>
            <a:r>
              <a:t># Ou traiter tous les runs de diffusion échantillon</a:t>
            </a:r>
            <a:br/>
            <a:r>
              <a:t>pipeline.run_all(w)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2064" y="6537960"/>
            <a:ext cx="32918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0">
                <a:solidFill>
                  <a:srgbClr val="5E6C70"/>
                </a:solidFill>
                <a:latin typeface="Aptos"/>
              </a:defRPr>
            </a:pPr>
            <a:r>
              <a:t>SCARLET | Réduction de données SANS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56848" y="6537960"/>
            <a:ext cx="2743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900" b="0">
                <a:solidFill>
                  <a:srgbClr val="5E6C70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38328"/>
            <a:ext cx="457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007B73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" y="246888"/>
            <a:ext cx="105613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700" b="1">
                <a:solidFill>
                  <a:srgbClr val="233036"/>
                </a:solidFill>
                <a:latin typeface="Aptos"/>
              </a:defRPr>
            </a:pPr>
            <a:r>
              <a:t>Quelles sorties produit le notebook 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868680"/>
            <a:ext cx="11183112" cy="0"/>
          </a:xfrm>
          <a:prstGeom prst="line">
            <a:avLst/>
          </a:prstGeom>
          <a:ln>
            <a:solidFill>
              <a:srgbClr val="CED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24128" y="804672"/>
            <a:ext cx="102412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E6C70"/>
                </a:solidFill>
                <a:latin typeface="Aptos"/>
              </a:defRPr>
            </a:pPr>
            <a:r>
              <a:t>Les données réduites restent inspectables et portent leur historique de traitement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1417320"/>
            <a:ext cx="3246120" cy="4242816"/>
          </a:xfrm>
          <a:prstGeom prst="roundRect">
            <a:avLst/>
          </a:prstGeom>
          <a:solidFill>
            <a:srgbClr val="F3F6F5"/>
          </a:solidFill>
          <a:ln w="12700">
            <a:solidFill>
              <a:srgbClr val="CED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755648"/>
            <a:ext cx="25603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000" b="1">
                <a:solidFill>
                  <a:srgbClr val="233036"/>
                </a:solidFill>
                <a:latin typeface="Aptos"/>
              </a:defRPr>
            </a:pPr>
            <a:r>
              <a:t>Fichier NeXus traité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2267712"/>
            <a:ext cx="26060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0">
                <a:solidFill>
                  <a:srgbClr val="5E6C70"/>
                </a:solidFill>
                <a:latin typeface="Aptos"/>
              </a:defRPr>
            </a:pPr>
            <a:r>
              <a:t>Le fichier source reçoit une NXentry /processed qui contient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2880360"/>
            <a:ext cx="2651760" cy="201168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33036"/>
                </a:solidFill>
                <a:latin typeface="Aptos"/>
              </a:defRPr>
            </a:pPr>
            <a:r>
              <a:t>• données détecteur réduites</a:t>
            </a:r>
          </a:p>
          <a:p>
            <a:pPr>
              <a:spcAft>
                <a:spcPts val="800"/>
              </a:spcAft>
              <a:defRPr sz="1300">
                <a:solidFill>
                  <a:srgbClr val="233036"/>
                </a:solidFill>
                <a:latin typeface="Aptos"/>
              </a:defRPr>
            </a:pPr>
            <a:r>
              <a:t>• incertitudes et coordonnées</a:t>
            </a:r>
          </a:p>
          <a:p>
            <a:pPr>
              <a:spcAft>
                <a:spcPts val="800"/>
              </a:spcAft>
              <a:defRPr sz="1300">
                <a:solidFill>
                  <a:srgbClr val="233036"/>
                </a:solidFill>
                <a:latin typeface="Aptos"/>
              </a:defRPr>
            </a:pPr>
            <a:r>
              <a:t>• masques</a:t>
            </a:r>
          </a:p>
          <a:p>
            <a:pPr>
              <a:spcAft>
                <a:spcPts val="800"/>
              </a:spcAft>
              <a:defRPr sz="1300">
                <a:solidFill>
                  <a:srgbClr val="233036"/>
                </a:solidFill>
                <a:latin typeface="Aptos"/>
              </a:defRPr>
            </a:pPr>
            <a:r>
              <a:t>• métadonnées échantillon et configuration</a:t>
            </a:r>
          </a:p>
          <a:p>
            <a:pPr>
              <a:spcAft>
                <a:spcPts val="800"/>
              </a:spcAft>
              <a:defRPr sz="1300">
                <a:solidFill>
                  <a:srgbClr val="233036"/>
                </a:solidFill>
                <a:latin typeface="Aptos"/>
              </a:defRPr>
            </a:pPr>
            <a:r>
              <a:t>• étapes nommées et notes de réduction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62272" y="1417320"/>
            <a:ext cx="3246120" cy="4242816"/>
          </a:xfrm>
          <a:prstGeom prst="roundRect">
            <a:avLst/>
          </a:prstGeom>
          <a:solidFill>
            <a:srgbClr val="E0F3F0"/>
          </a:solidFill>
          <a:ln w="12700">
            <a:solidFill>
              <a:srgbClr val="007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1755648"/>
            <a:ext cx="25603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000" b="1">
                <a:solidFill>
                  <a:srgbClr val="233036"/>
                </a:solidFill>
                <a:latin typeface="Aptos"/>
              </a:defRPr>
            </a:pPr>
            <a:r>
              <a:t>Sorties texte I(Q)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267712"/>
            <a:ext cx="26060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0">
                <a:solidFill>
                  <a:srgbClr val="5E6C70"/>
                </a:solidFill>
                <a:latin typeface="Aptos"/>
              </a:defRPr>
            </a:pPr>
            <a:r>
              <a:t>Chaque détecteur peut produire une courbe texte avec 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880360"/>
            <a:ext cx="2651760" cy="201168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33036"/>
                </a:solidFill>
                <a:latin typeface="Aptos"/>
              </a:defRPr>
            </a:pPr>
            <a:r>
              <a:t>• Q</a:t>
            </a:r>
          </a:p>
          <a:p>
            <a:pPr>
              <a:spcAft>
                <a:spcPts val="800"/>
              </a:spcAft>
              <a:defRPr sz="1300">
                <a:solidFill>
                  <a:srgbClr val="233036"/>
                </a:solidFill>
                <a:latin typeface="Aptos"/>
              </a:defRPr>
            </a:pPr>
            <a:r>
              <a:t>• I(Q)</a:t>
            </a:r>
          </a:p>
          <a:p>
            <a:pPr>
              <a:spcAft>
                <a:spcPts val="800"/>
              </a:spcAft>
              <a:defRPr sz="1300">
                <a:solidFill>
                  <a:srgbClr val="233036"/>
                </a:solidFill>
                <a:latin typeface="Aptos"/>
              </a:defRPr>
            </a:pPr>
            <a:r>
              <a:t>• incertitude sur l’intensité</a:t>
            </a:r>
          </a:p>
          <a:p>
            <a:pPr>
              <a:spcAft>
                <a:spcPts val="800"/>
              </a:spcAft>
              <a:defRPr sz="1300">
                <a:solidFill>
                  <a:srgbClr val="233036"/>
                </a:solidFill>
                <a:latin typeface="Aptos"/>
              </a:defRPr>
            </a:pPr>
            <a:r>
              <a:t>• incertitude sur Q si disponible</a:t>
            </a:r>
          </a:p>
          <a:p>
            <a:pPr>
              <a:spcAft>
                <a:spcPts val="800"/>
              </a:spcAft>
              <a:defRPr sz="1300">
                <a:solidFill>
                  <a:srgbClr val="233036"/>
                </a:solidFill>
                <a:latin typeface="Aptos"/>
              </a:defRPr>
            </a:pPr>
            <a:r>
              <a:t>• provenance échantillon, configuration, transmission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57031" y="1417320"/>
            <a:ext cx="3246120" cy="4242816"/>
          </a:xfrm>
          <a:prstGeom prst="roundRect">
            <a:avLst/>
          </a:prstGeom>
          <a:solidFill>
            <a:srgbClr val="FCEBE5"/>
          </a:solidFill>
          <a:ln w="12700">
            <a:solidFill>
              <a:srgbClr val="E86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9640" y="1755648"/>
            <a:ext cx="25603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000" b="1">
                <a:solidFill>
                  <a:srgbClr val="233036"/>
                </a:solidFill>
                <a:latin typeface="Aptos"/>
              </a:defRPr>
            </a:pPr>
            <a:r>
              <a:t>État à inspecter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267712"/>
            <a:ext cx="26060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0">
                <a:solidFill>
                  <a:srgbClr val="5E6C70"/>
                </a:solidFill>
                <a:latin typeface="Aptos"/>
              </a:defRPr>
            </a:pPr>
            <a:r>
              <a:t>Le ReductionState retourné donne immédiatement accès à 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2953512"/>
            <a:ext cx="2651760" cy="201168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33036"/>
                </a:solidFill>
                <a:latin typeface="Aptos"/>
              </a:defRPr>
            </a:pPr>
            <a:r>
              <a:t>• détecteurs après chaque étape</a:t>
            </a:r>
          </a:p>
          <a:p>
            <a:pPr>
              <a:spcAft>
                <a:spcPts val="800"/>
              </a:spcAft>
              <a:defRPr sz="1300">
                <a:solidFill>
                  <a:srgbClr val="233036"/>
                </a:solidFill>
                <a:latin typeface="Aptos"/>
              </a:defRPr>
            </a:pPr>
            <a:r>
              <a:t>• transmission utilisée</a:t>
            </a:r>
          </a:p>
          <a:p>
            <a:pPr>
              <a:spcAft>
                <a:spcPts val="800"/>
              </a:spcAft>
              <a:defRPr sz="1300">
                <a:solidFill>
                  <a:srgbClr val="233036"/>
                </a:solidFill>
                <a:latin typeface="Aptos"/>
              </a:defRPr>
            </a:pPr>
            <a:r>
              <a:t>• liste des étapes appliquées</a:t>
            </a:r>
          </a:p>
          <a:p>
            <a:pPr>
              <a:spcAft>
                <a:spcPts val="800"/>
              </a:spcAft>
              <a:defRPr sz="1300">
                <a:solidFill>
                  <a:srgbClr val="233036"/>
                </a:solidFill>
                <a:latin typeface="Aptos"/>
              </a:defRPr>
            </a:pPr>
            <a:r>
              <a:t>• avertissements et notes</a:t>
            </a:r>
          </a:p>
          <a:p>
            <a:pPr>
              <a:spcAft>
                <a:spcPts val="800"/>
              </a:spcAft>
              <a:defRPr sz="1300">
                <a:solidFill>
                  <a:srgbClr val="233036"/>
                </a:solidFill>
                <a:latin typeface="Aptos"/>
              </a:defRPr>
            </a:pPr>
            <a:r>
              <a:t>• chemin du fichier source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" y="6537960"/>
            <a:ext cx="32918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0">
                <a:solidFill>
                  <a:srgbClr val="5E6C70"/>
                </a:solidFill>
                <a:latin typeface="Aptos"/>
              </a:defRPr>
            </a:pPr>
            <a:r>
              <a:t>SCARLET | Réduction de données SANS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56848" y="6537960"/>
            <a:ext cx="2743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900" b="0">
                <a:solidFill>
                  <a:srgbClr val="5E6C70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38328"/>
            <a:ext cx="457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007B73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" y="246888"/>
            <a:ext cx="105613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700" b="1">
                <a:solidFill>
                  <a:srgbClr val="233036"/>
                </a:solidFill>
                <a:latin typeface="Aptos"/>
              </a:defRPr>
            </a:pPr>
            <a:r>
              <a:t>Notebook 6 : assembler les configurations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868680"/>
            <a:ext cx="11183112" cy="0"/>
          </a:xfrm>
          <a:prstGeom prst="line">
            <a:avLst/>
          </a:prstGeom>
          <a:ln>
            <a:solidFill>
              <a:srgbClr val="CED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24128" y="804672"/>
            <a:ext cx="102412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E6C70"/>
                </a:solidFill>
                <a:latin typeface="Aptos"/>
              </a:defRPr>
            </a:pPr>
            <a:r>
              <a:t>Combiner les segments I(Q) réduits après traitement de chaque configuration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1417320"/>
            <a:ext cx="4526280" cy="1938528"/>
          </a:xfrm>
          <a:prstGeom prst="roundRect">
            <a:avLst/>
          </a:prstGeom>
          <a:solidFill>
            <a:srgbClr val="1F2B2E"/>
          </a:solidFill>
          <a:ln>
            <a:solidFill>
              <a:srgbClr val="1F2B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81912"/>
            <a:ext cx="4123944" cy="16093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0">
                <a:solidFill>
                  <a:srgbClr val="E8F2F6"/>
                </a:solidFill>
                <a:latin typeface="Aptos Mono"/>
              </a:defRPr>
            </a:pPr>
            <a:r>
              <a:t>from scarlet.workflow.pipeline import StichingPipeline</a:t>
            </a:r>
            <a:br/>
            <a:br/>
            <a:r>
              <a:t>stitch = StichingPipeline(w)</a:t>
            </a:r>
            <a:br/>
            <a:r>
              <a:t>stitch.run_all(scale_on='config_10',</a:t>
            </a:r>
            <a:br/>
            <a:r>
              <a:t>               normalization_factor=1.0)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50992" y="1472184"/>
            <a:ext cx="23774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900" b="1">
                <a:solidFill>
                  <a:srgbClr val="233036"/>
                </a:solidFill>
                <a:latin typeface="Aptos"/>
              </a:defRPr>
            </a:pPr>
            <a:r>
              <a:t>Logique du stitching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50992" y="1920240"/>
            <a:ext cx="438912" cy="438912"/>
          </a:xfrm>
          <a:prstGeom prst="roundRect">
            <a:avLst/>
          </a:prstGeom>
          <a:solidFill>
            <a:srgbClr val="2E88C7"/>
          </a:solidFill>
          <a:ln>
            <a:solidFill>
              <a:srgbClr val="2E8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50992" y="1993392"/>
            <a:ext cx="43891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54496" y="1911096"/>
            <a:ext cx="46542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233036"/>
                </a:solidFill>
                <a:latin typeface="Aptos"/>
              </a:defRPr>
            </a:pPr>
            <a:r>
              <a:t>Charger les segments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54496" y="2185416"/>
            <a:ext cx="4654296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E6C70"/>
                </a:solidFill>
                <a:latin typeface="Aptos"/>
              </a:defRPr>
            </a:pPr>
            <a:r>
              <a:t>Lire les courbes I(Q) réduites depuis les entrées NeXus traitées.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50992" y="2770632"/>
            <a:ext cx="438912" cy="438912"/>
          </a:xfrm>
          <a:prstGeom prst="roundRect">
            <a:avLst/>
          </a:prstGeom>
          <a:solidFill>
            <a:srgbClr val="007B73"/>
          </a:solidFill>
          <a:ln>
            <a:solidFill>
              <a:srgbClr val="007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50992" y="2843784"/>
            <a:ext cx="43891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54496" y="2761488"/>
            <a:ext cx="46542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233036"/>
                </a:solidFill>
                <a:latin typeface="Aptos"/>
              </a:defRPr>
            </a:pPr>
            <a:r>
              <a:t>Comparer les recouvrements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54496" y="3035808"/>
            <a:ext cx="4654296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E6C70"/>
                </a:solidFill>
                <a:latin typeface="Aptos"/>
              </a:defRPr>
            </a:pPr>
            <a:r>
              <a:t>Estimer les facteurs d’échelle relatifs dans les zones de Q communes.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50992" y="3621024"/>
            <a:ext cx="438912" cy="438912"/>
          </a:xfrm>
          <a:prstGeom prst="roundRect">
            <a:avLst/>
          </a:prstGeom>
          <a:solidFill>
            <a:srgbClr val="E86946"/>
          </a:solidFill>
          <a:ln>
            <a:solidFill>
              <a:srgbClr val="E86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50992" y="3694176"/>
            <a:ext cx="43891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54496" y="3611880"/>
            <a:ext cx="46542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233036"/>
                </a:solidFill>
                <a:latin typeface="Aptos"/>
              </a:defRPr>
            </a:pPr>
            <a:r>
              <a:t>Sélectionner les plages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4496" y="3886200"/>
            <a:ext cx="4654296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E6C70"/>
                </a:solidFill>
                <a:latin typeface="Aptos"/>
              </a:defRPr>
            </a:pPr>
            <a:r>
              <a:t>Conserver la plage de Q utile pour chaque configuration.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50992" y="4471416"/>
            <a:ext cx="438912" cy="438912"/>
          </a:xfrm>
          <a:prstGeom prst="roundRect">
            <a:avLst/>
          </a:prstGeom>
          <a:solidFill>
            <a:srgbClr val="F3BE40"/>
          </a:solidFill>
          <a:ln>
            <a:solidFill>
              <a:srgbClr val="F3B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50992" y="4544568"/>
            <a:ext cx="43891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54496" y="4462272"/>
            <a:ext cx="46542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233036"/>
                </a:solidFill>
                <a:latin typeface="Aptos"/>
              </a:defRPr>
            </a:pPr>
            <a:r>
              <a:t>Appliquer l’échelle finale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54496" y="4736592"/>
            <a:ext cx="4654296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E6C70"/>
                </a:solidFill>
                <a:latin typeface="Aptos"/>
              </a:defRPr>
            </a:pPr>
            <a:r>
              <a:t>normalization_factor multiplie I et I_error, pas Q ni q_error.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" y="3877056"/>
            <a:ext cx="4526280" cy="1554480"/>
          </a:xfrm>
          <a:prstGeom prst="roundRect">
            <a:avLst/>
          </a:prstGeom>
          <a:solidFill>
            <a:srgbClr val="F3F6F5"/>
          </a:solidFill>
          <a:ln w="12700">
            <a:solidFill>
              <a:srgbClr val="CED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160520"/>
            <a:ext cx="12801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233036"/>
                </a:solidFill>
                <a:latin typeface="Aptos"/>
              </a:defRPr>
            </a:pPr>
            <a:r>
              <a:t>Précondition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" y="4562856"/>
            <a:ext cx="3803904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0">
                <a:solidFill>
                  <a:srgbClr val="5E6C70"/>
                </a:solidFill>
                <a:latin typeface="Aptos"/>
              </a:defRPr>
            </a:pPr>
            <a:r>
              <a:t>Exécuter ReductionPipeline pour chaque configuration de diffusion avant le stitching.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" y="6537960"/>
            <a:ext cx="32918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0">
                <a:solidFill>
                  <a:srgbClr val="5E6C70"/>
                </a:solidFill>
                <a:latin typeface="Aptos"/>
              </a:defRPr>
            </a:pPr>
            <a:r>
              <a:t>SCARLET | Réduction de données SANS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56848" y="6537960"/>
            <a:ext cx="2743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900" b="0">
                <a:solidFill>
                  <a:srgbClr val="5E6C70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38328"/>
            <a:ext cx="457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007B73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" y="246888"/>
            <a:ext cx="105613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700" b="1">
                <a:solidFill>
                  <a:srgbClr val="233036"/>
                </a:solidFill>
                <a:latin typeface="Aptos"/>
              </a:defRPr>
            </a:pPr>
            <a:r>
              <a:t>Stitching : de courbes à segments candidats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868680"/>
            <a:ext cx="11183112" cy="0"/>
          </a:xfrm>
          <a:prstGeom prst="line">
            <a:avLst/>
          </a:prstGeom>
          <a:ln>
            <a:solidFill>
              <a:srgbClr val="CED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24128" y="804672"/>
            <a:ext cx="102412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E6C70"/>
                </a:solidFill>
                <a:latin typeface="Aptos"/>
              </a:defRPr>
            </a:pPr>
            <a:r>
              <a:t>Chaque couple configuration + détecteur est traité comme un segment indépendant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3246120" cy="4297680"/>
          </a:xfrm>
          <a:prstGeom prst="roundRect">
            <a:avLst/>
          </a:prstGeom>
          <a:solidFill>
            <a:srgbClr val="F3F6F5"/>
          </a:solidFill>
          <a:ln w="12700">
            <a:solidFill>
              <a:srgbClr val="CED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09928"/>
            <a:ext cx="25603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000" b="1">
                <a:solidFill>
                  <a:srgbClr val="233036"/>
                </a:solidFill>
                <a:latin typeface="Aptos"/>
              </a:defRPr>
            </a:pPr>
            <a:r>
              <a:t>Un segment contient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304288"/>
            <a:ext cx="2331720" cy="201168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33036"/>
                </a:solidFill>
                <a:latin typeface="Aptos"/>
              </a:defRPr>
            </a:pPr>
            <a:r>
              <a:t>• Q et I(Q)</a:t>
            </a:r>
          </a:p>
          <a:p>
            <a:pPr>
              <a:spcAft>
                <a:spcPts val="1000"/>
              </a:spcAft>
              <a:defRPr sz="1500">
                <a:solidFill>
                  <a:srgbClr val="233036"/>
                </a:solidFill>
                <a:latin typeface="Aptos"/>
              </a:defRPr>
            </a:pPr>
            <a:r>
              <a:t>• incertitude dI</a:t>
            </a:r>
          </a:p>
          <a:p>
            <a:pPr>
              <a:spcAft>
                <a:spcPts val="1000"/>
              </a:spcAft>
              <a:defRPr sz="1500">
                <a:solidFill>
                  <a:srgbClr val="233036"/>
                </a:solidFill>
                <a:latin typeface="Aptos"/>
              </a:defRPr>
            </a:pPr>
            <a:r>
              <a:t>• résolution dQ</a:t>
            </a:r>
          </a:p>
          <a:p>
            <a:pPr>
              <a:spcAft>
                <a:spcPts val="1000"/>
              </a:spcAft>
              <a:defRPr sz="1500">
                <a:solidFill>
                  <a:srgbClr val="233036"/>
                </a:solidFill>
                <a:latin typeface="Aptos"/>
              </a:defRPr>
            </a:pPr>
            <a:r>
              <a:t>• identifiant de configuration</a:t>
            </a:r>
          </a:p>
          <a:p>
            <a:pPr>
              <a:spcAft>
                <a:spcPts val="1000"/>
              </a:spcAft>
              <a:defRPr sz="1500">
                <a:solidFill>
                  <a:srgbClr val="233036"/>
                </a:solidFill>
                <a:latin typeface="Aptos"/>
              </a:defRPr>
            </a:pPr>
            <a:r>
              <a:t>• identifiant de détecteur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" y="4983480"/>
            <a:ext cx="25603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005C56"/>
                </a:solidFill>
                <a:latin typeface="Aptos"/>
              </a:defRPr>
            </a:pPr>
            <a:r>
              <a:t>Exemple : c10d2 = config_10 + detector2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417320"/>
            <a:ext cx="6126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800" b="1">
                <a:solidFill>
                  <a:srgbClr val="233036"/>
                </a:solidFill>
                <a:latin typeface="Aptos"/>
              </a:defRPr>
            </a:pPr>
            <a:r>
              <a:t>Un segment est évalué sur sa qualité intrinsèque 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1856231"/>
            <a:ext cx="58521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2200" b="0">
                <a:solidFill>
                  <a:srgbClr val="005C56"/>
                </a:solidFill>
                <a:latin typeface="Aptos"/>
              </a:defRPr>
            </a:pPr>
            <a:r>
              <a:t>qualité = médiane[(dI / I)² + λres (dQ / Q)²]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43984" y="2395728"/>
            <a:ext cx="57607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500" b="0">
                <a:solidFill>
                  <a:srgbClr val="5E6C70"/>
                </a:solidFill>
                <a:latin typeface="Aptos"/>
              </a:defRPr>
            </a:pPr>
            <a:r>
              <a:t>Une faible incertitude relative et une bonne résolution donnent un score plus faible, donc un segment préférable.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3154680"/>
            <a:ext cx="640080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3401568"/>
            <a:ext cx="21031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233036"/>
                </a:solidFill>
                <a:latin typeface="Aptos"/>
              </a:defRPr>
            </a:pPr>
            <a:r>
              <a:t>Illustration sur l’axe Q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3968496"/>
            <a:ext cx="2331720" cy="237744"/>
          </a:xfrm>
          <a:prstGeom prst="roundRect">
            <a:avLst/>
          </a:prstGeom>
          <a:solidFill>
            <a:srgbClr val="2E88C7"/>
          </a:solidFill>
          <a:ln>
            <a:solidFill>
              <a:srgbClr val="2E8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0" y="3675887"/>
            <a:ext cx="6400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2E88C7"/>
                </a:solidFill>
                <a:latin typeface="Aptos"/>
              </a:defRPr>
            </a:pPr>
            <a:r>
              <a:t>c9d0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968496"/>
            <a:ext cx="3063240" cy="237744"/>
          </a:xfrm>
          <a:prstGeom prst="roundRect">
            <a:avLst/>
          </a:prstGeom>
          <a:solidFill>
            <a:srgbClr val="007B73"/>
          </a:solidFill>
          <a:ln>
            <a:solidFill>
              <a:srgbClr val="007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4270248"/>
            <a:ext cx="7315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005C56"/>
                </a:solidFill>
                <a:latin typeface="Aptos"/>
              </a:defRPr>
            </a:pPr>
            <a:r>
              <a:t>c10d0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32520" y="3968496"/>
            <a:ext cx="1417320" cy="237744"/>
          </a:xfrm>
          <a:prstGeom prst="roundRect">
            <a:avLst/>
          </a:prstGeom>
          <a:solidFill>
            <a:srgbClr val="E86946"/>
          </a:solidFill>
          <a:ln>
            <a:solidFill>
              <a:srgbClr val="E86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15400" y="3675887"/>
            <a:ext cx="7315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E86946"/>
                </a:solidFill>
                <a:latin typeface="Aptos"/>
              </a:defRPr>
            </a:pPr>
            <a:r>
              <a:t>c10d2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3803904"/>
            <a:ext cx="777240" cy="566928"/>
          </a:xfrm>
          <a:prstGeom prst="rect">
            <a:avLst/>
          </a:prstGeom>
          <a:solidFill>
            <a:srgbClr val="FFF8DE"/>
          </a:solidFill>
          <a:ln w="12700">
            <a:solidFill>
              <a:srgbClr val="F3B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18504" y="4526280"/>
            <a:ext cx="786384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000" b="0">
                <a:solidFill>
                  <a:srgbClr val="233036"/>
                </a:solidFill>
                <a:latin typeface="Aptos"/>
              </a:defRPr>
            </a:pPr>
            <a:r>
              <a:t>overlap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5065776"/>
            <a:ext cx="731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0">
                <a:solidFill>
                  <a:srgbClr val="5E6C70"/>
                </a:solidFill>
                <a:latin typeface="Aptos"/>
              </a:defRPr>
            </a:pPr>
            <a:r>
              <a:t>Q faible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12096" y="5065776"/>
            <a:ext cx="731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0">
                <a:solidFill>
                  <a:srgbClr val="5E6C70"/>
                </a:solidFill>
                <a:latin typeface="Aptos"/>
              </a:defRPr>
            </a:pPr>
            <a:r>
              <a:t>Q élevé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" y="6537960"/>
            <a:ext cx="32918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0">
                <a:solidFill>
                  <a:srgbClr val="5E6C70"/>
                </a:solidFill>
                <a:latin typeface="Aptos"/>
              </a:defRPr>
            </a:pPr>
            <a:r>
              <a:t>SCARLET | Réduction de données SANS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56848" y="6537960"/>
            <a:ext cx="2743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900" b="0">
                <a:solidFill>
                  <a:srgbClr val="5E6C70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38328"/>
            <a:ext cx="457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007B73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" y="246888"/>
            <a:ext cx="105613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700" b="1">
                <a:solidFill>
                  <a:srgbClr val="233036"/>
                </a:solidFill>
                <a:latin typeface="Aptos"/>
              </a:defRPr>
            </a:pPr>
            <a:r>
              <a:t>Stitching : ajuster deux segments dans leur recouvrement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868680"/>
            <a:ext cx="11183112" cy="0"/>
          </a:xfrm>
          <a:prstGeom prst="line">
            <a:avLst/>
          </a:prstGeom>
          <a:ln>
            <a:solidFill>
              <a:srgbClr val="CED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24128" y="804672"/>
            <a:ext cx="102412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E6C70"/>
                </a:solidFill>
                <a:latin typeface="Aptos"/>
              </a:defRPr>
            </a:pPr>
            <a:r>
              <a:t>Le raccord recherché est multiplicatif, pas une déformation de la courbe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" y="1417320"/>
            <a:ext cx="4983480" cy="4370832"/>
          </a:xfrm>
          <a:prstGeom prst="roundRect">
            <a:avLst/>
          </a:prstGeom>
          <a:solidFill>
            <a:srgbClr val="E7F2FA"/>
          </a:solidFill>
          <a:ln>
            <a:solidFill>
              <a:srgbClr val="E7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737360"/>
            <a:ext cx="41605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900" b="1">
                <a:solidFill>
                  <a:srgbClr val="233036"/>
                </a:solidFill>
                <a:latin typeface="Aptos"/>
              </a:defRPr>
            </a:pPr>
            <a:r>
              <a:t>1. Construire une grille Q commune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240280"/>
            <a:ext cx="416052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0">
                <a:solidFill>
                  <a:srgbClr val="5E6C70"/>
                </a:solidFill>
                <a:latin typeface="Aptos"/>
              </a:defRPr>
            </a:pPr>
            <a:r>
              <a:t>Les deux courbes sont interpolées dans leur zone de recouvrement sur une grille logarithmique commune. Le nombre de points est conservateur : min(NA, NB).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3520440"/>
            <a:ext cx="3749039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900" b="1">
                <a:solidFill>
                  <a:srgbClr val="233036"/>
                </a:solidFill>
                <a:latin typeface="Aptos"/>
              </a:defRPr>
            </a:pPr>
            <a:r>
              <a:t>2. Calculer le log-ratio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3968496"/>
            <a:ext cx="37947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2200" b="0">
                <a:solidFill>
                  <a:srgbClr val="2E88C7"/>
                </a:solidFill>
                <a:latin typeface="Aptos"/>
              </a:defRPr>
            </a:pPr>
            <a:r>
              <a:t>r(Q) = ln IA(Q) − ln IB(Q)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4498848"/>
            <a:ext cx="41605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600" b="0">
                <a:solidFill>
                  <a:srgbClr val="5E6C70"/>
                </a:solidFill>
                <a:latin typeface="Aptos"/>
              </a:defRPr>
            </a:pPr>
            <a:r>
              <a:t>Si le raccord est valide, r(Q) forme un plateau.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1417320"/>
            <a:ext cx="5422392" cy="4370832"/>
          </a:xfrm>
          <a:prstGeom prst="roundRect">
            <a:avLst/>
          </a:prstGeom>
          <a:solidFill>
            <a:srgbClr val="E0F3F0"/>
          </a:solidFill>
          <a:ln>
            <a:solidFill>
              <a:srgbClr val="E0F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1737360"/>
            <a:ext cx="4389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900" b="1">
                <a:solidFill>
                  <a:srgbClr val="233036"/>
                </a:solidFill>
                <a:latin typeface="Aptos"/>
              </a:defRPr>
            </a:pPr>
            <a:r>
              <a:t>3. Ajuster une constante pondérée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2313432"/>
            <a:ext cx="434340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2000" b="0">
                <a:solidFill>
                  <a:srgbClr val="005C56"/>
                </a:solidFill>
                <a:latin typeface="Aptos"/>
              </a:defRPr>
            </a:pPr>
            <a:r>
              <a:t>ln s = somme(wi ri) / somme(wi)</a:t>
            </a:r>
            <a:br/>
            <a:r>
              <a:t>avec wi = 1 / σri²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3182112"/>
            <a:ext cx="4343400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800" b="0">
                <a:solidFill>
                  <a:srgbClr val="233036"/>
                </a:solidFill>
                <a:latin typeface="Aptos"/>
              </a:defRPr>
            </a:pPr>
            <a:r>
              <a:t>σr² = (dIA / IA)² + (dIB / IB)²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3858768"/>
            <a:ext cx="434340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600" b="0">
                <a:solidFill>
                  <a:srgbClr val="5E6C70"/>
                </a:solidFill>
                <a:latin typeface="Aptos"/>
              </a:defRPr>
            </a:pPr>
            <a:r>
              <a:t>Le facteur s met le segment B à l’échelle du segment A : IA(Q) ≈ s IB(Q).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48272" y="4718304"/>
            <a:ext cx="3840480" cy="4937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4855464"/>
            <a:ext cx="37947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600" b="1">
                <a:solidFill>
                  <a:srgbClr val="005C56"/>
                </a:solidFill>
                <a:latin typeface="Aptos"/>
              </a:defRPr>
            </a:pPr>
            <a:r>
              <a:t>s = exp(ln 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" y="6537960"/>
            <a:ext cx="32918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0">
                <a:solidFill>
                  <a:srgbClr val="5E6C70"/>
                </a:solidFill>
                <a:latin typeface="Aptos"/>
              </a:defRPr>
            </a:pPr>
            <a:r>
              <a:t>SCARLET | Réduction de données SANS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56848" y="6537960"/>
            <a:ext cx="2743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900" b="0">
                <a:solidFill>
                  <a:srgbClr val="5E6C70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38328"/>
            <a:ext cx="457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007B73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" y="246888"/>
            <a:ext cx="105613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700" b="1">
                <a:solidFill>
                  <a:srgbClr val="233036"/>
                </a:solidFill>
                <a:latin typeface="Aptos"/>
              </a:defRPr>
            </a:pPr>
            <a:r>
              <a:t>Stitching : choisir une fenêtre de raccord fiable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868680"/>
            <a:ext cx="11183112" cy="0"/>
          </a:xfrm>
          <a:prstGeom prst="line">
            <a:avLst/>
          </a:prstGeom>
          <a:ln>
            <a:solidFill>
              <a:srgbClr val="CED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24128" y="804672"/>
            <a:ext cx="102412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E6C70"/>
                </a:solidFill>
                <a:latin typeface="Aptos"/>
              </a:defRPr>
            </a:pPr>
            <a:r>
              <a:t>Le recouvrement complet n’est pas forcément la meilleure zone de fit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307592"/>
            <a:ext cx="10652760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700" b="0">
                <a:solidFill>
                  <a:srgbClr val="5E6C70"/>
                </a:solidFill>
                <a:latin typeface="Aptos"/>
              </a:defRPr>
            </a:pPr>
            <a:r>
              <a:t>L’algorithme teste plusieurs fenêtres dans la zone de recouvrement et minimise un score de qualité.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" y="1828800"/>
            <a:ext cx="5074920" cy="1298448"/>
          </a:xfrm>
          <a:prstGeom prst="roundRect">
            <a:avLst/>
          </a:prstGeom>
          <a:solidFill>
            <a:srgbClr val="E7F2FA"/>
          </a:solidFill>
          <a:ln>
            <a:solidFill>
              <a:srgbClr val="E7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67512" y="1828800"/>
            <a:ext cx="91440" cy="1298448"/>
          </a:xfrm>
          <a:prstGeom prst="rect">
            <a:avLst/>
          </a:prstGeom>
          <a:solidFill>
            <a:srgbClr val="2E88C7"/>
          </a:solidFill>
          <a:ln>
            <a:solidFill>
              <a:srgbClr val="2E8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011680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233036"/>
                </a:solidFill>
                <a:latin typeface="Aptos"/>
              </a:defRPr>
            </a:pPr>
            <a:r>
              <a:t>χ² réduit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395728"/>
            <a:ext cx="28346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5E6C70"/>
                </a:solidFill>
                <a:latin typeface="Aptos"/>
              </a:defRPr>
            </a:pPr>
            <a:r>
              <a:t>Le log-ratio est compatible avec une constante.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42231" y="2212848"/>
            <a:ext cx="123444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8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15383" y="2313432"/>
            <a:ext cx="107899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233036"/>
                </a:solidFill>
                <a:latin typeface="Aptos"/>
              </a:defRPr>
            </a:pPr>
            <a:r>
              <a:t>χ²ν &lt; 3.0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1" y="1828800"/>
            <a:ext cx="5074920" cy="1298448"/>
          </a:xfrm>
          <a:prstGeom prst="roundRect">
            <a:avLst/>
          </a:prstGeom>
          <a:solidFill>
            <a:srgbClr val="FCEBE5"/>
          </a:solidFill>
          <a:ln>
            <a:solidFill>
              <a:srgbClr val="FCE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1" y="1828800"/>
            <a:ext cx="91440" cy="1298448"/>
          </a:xfrm>
          <a:prstGeom prst="rect">
            <a:avLst/>
          </a:prstGeom>
          <a:solidFill>
            <a:srgbClr val="E86946"/>
          </a:solidFill>
          <a:ln>
            <a:solidFill>
              <a:srgbClr val="E86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1" y="2011680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233036"/>
                </a:solidFill>
                <a:latin typeface="Aptos"/>
              </a:defRPr>
            </a:pPr>
            <a:r>
              <a:t>Pente résiduelle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1" y="2395728"/>
            <a:ext cx="28346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5E6C70"/>
                </a:solidFill>
                <a:latin typeface="Aptos"/>
              </a:defRPr>
            </a:pPr>
            <a:r>
              <a:t>Une dérive de r(Q) révèle un mauvais plateau.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74351" y="2212848"/>
            <a:ext cx="123444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6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47504" y="2313432"/>
            <a:ext cx="107899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233036"/>
                </a:solidFill>
                <a:latin typeface="Aptos"/>
              </a:defRPr>
            </a:pPr>
            <a:r>
              <a:t>|b / σb| &lt; 2.5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7512" y="3493008"/>
            <a:ext cx="5074920" cy="1298448"/>
          </a:xfrm>
          <a:prstGeom prst="roundRect">
            <a:avLst/>
          </a:prstGeom>
          <a:solidFill>
            <a:srgbClr val="E0F3F0"/>
          </a:solidFill>
          <a:ln>
            <a:solidFill>
              <a:srgbClr val="E0F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67512" y="3493008"/>
            <a:ext cx="91440" cy="1298448"/>
          </a:xfrm>
          <a:prstGeom prst="rect">
            <a:avLst/>
          </a:prstGeom>
          <a:solidFill>
            <a:srgbClr val="007B73"/>
          </a:solidFill>
          <a:ln>
            <a:solidFill>
              <a:srgbClr val="007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" y="3675888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233036"/>
                </a:solidFill>
                <a:latin typeface="Aptos"/>
              </a:defRPr>
            </a:pPr>
            <a:r>
              <a:t>Largeur de fenêtre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" y="4059936"/>
            <a:ext cx="28346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5E6C70"/>
                </a:solidFill>
                <a:latin typeface="Aptos"/>
              </a:defRPr>
            </a:pPr>
            <a:r>
              <a:t>Éviter un accord artificiel sur trop peu de points.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42231" y="3877056"/>
            <a:ext cx="123444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15383" y="3977640"/>
            <a:ext cx="107899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233036"/>
                </a:solidFill>
                <a:latin typeface="Aptos"/>
              </a:defRPr>
            </a:pPr>
            <a:r>
              <a:t>au moins 8 points</a:t>
            </a:r>
            <a:br/>
            <a:r>
              <a:t>Δln Q ≥ 0.10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9631" y="3493008"/>
            <a:ext cx="5074920" cy="1298448"/>
          </a:xfrm>
          <a:prstGeom prst="roundRect">
            <a:avLst/>
          </a:prstGeom>
          <a:solidFill>
            <a:srgbClr val="FFF8DE"/>
          </a:solidFill>
          <a:ln>
            <a:solidFill>
              <a:srgbClr val="FFF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99631" y="3493008"/>
            <a:ext cx="91440" cy="1298448"/>
          </a:xfrm>
          <a:prstGeom prst="rect">
            <a:avLst/>
          </a:prstGeom>
          <a:solidFill>
            <a:srgbClr val="F3BE40"/>
          </a:solidFill>
          <a:ln>
            <a:solidFill>
              <a:srgbClr val="F3B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3951" y="3675888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233036"/>
                </a:solidFill>
                <a:latin typeface="Aptos"/>
              </a:defRPr>
            </a:pPr>
            <a:r>
              <a:t>Résolution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3951" y="4059936"/>
            <a:ext cx="28346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5E6C70"/>
                </a:solidFill>
                <a:latin typeface="Aptos"/>
              </a:defRPr>
            </a:pPr>
            <a:r>
              <a:t>Préférer une résolution relative combinée plus faible.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74351" y="3877056"/>
            <a:ext cx="123444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B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47504" y="3977640"/>
            <a:ext cx="107899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233036"/>
                </a:solidFill>
                <a:latin typeface="Aptos"/>
              </a:defRPr>
            </a:pPr>
            <a:r>
              <a:t>pondération</a:t>
            </a:r>
            <a:br/>
            <a:r>
              <a:t>secondaire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88720" y="5431536"/>
            <a:ext cx="9802368" cy="512064"/>
          </a:xfrm>
          <a:prstGeom prst="roundRect">
            <a:avLst/>
          </a:prstGeom>
          <a:solidFill>
            <a:srgbClr val="F3F6F5"/>
          </a:solidFill>
          <a:ln w="12700">
            <a:solidFill>
              <a:srgbClr val="CED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417320" y="5577840"/>
            <a:ext cx="93268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500" b="1">
                <a:solidFill>
                  <a:srgbClr val="005C56"/>
                </a:solidFill>
                <a:latin typeface="Aptos"/>
              </a:defRPr>
            </a:pPr>
            <a:r>
              <a:t>Une transition est acceptée seulement si le plateau est fiable et si le nouveau segment étend suffisamment la couverture en Q.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4" y="6537960"/>
            <a:ext cx="32918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0">
                <a:solidFill>
                  <a:srgbClr val="5E6C70"/>
                </a:solidFill>
                <a:latin typeface="Aptos"/>
              </a:defRPr>
            </a:pPr>
            <a:r>
              <a:t>SCARLET | Réduction de données SANS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56848" y="6537960"/>
            <a:ext cx="2743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900" b="0">
                <a:solidFill>
                  <a:srgbClr val="5E6C70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38328"/>
            <a:ext cx="457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007B73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" y="246888"/>
            <a:ext cx="105613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700" b="1">
                <a:solidFill>
                  <a:srgbClr val="233036"/>
                </a:solidFill>
                <a:latin typeface="Aptos"/>
              </a:defRPr>
            </a:pPr>
            <a:r>
              <a:t>Stitching : sélectionner, mettre à l’échelle, concaténer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868680"/>
            <a:ext cx="11183112" cy="0"/>
          </a:xfrm>
          <a:prstGeom prst="line">
            <a:avLst/>
          </a:prstGeom>
          <a:ln>
            <a:solidFill>
              <a:srgbClr val="CED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24128" y="804672"/>
            <a:ext cx="102412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E6C70"/>
                </a:solidFill>
                <a:latin typeface="Aptos"/>
              </a:defRPr>
            </a:pPr>
            <a:r>
              <a:t>La chaîne finale privilégie les segments utiles plutôt que tous les segments disponibles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1444752"/>
            <a:ext cx="438912" cy="438912"/>
          </a:xfrm>
          <a:prstGeom prst="roundRect">
            <a:avLst/>
          </a:prstGeom>
          <a:solidFill>
            <a:srgbClr val="2E88C7"/>
          </a:solidFill>
          <a:ln>
            <a:solidFill>
              <a:srgbClr val="2E8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1517904"/>
            <a:ext cx="43891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1435608"/>
            <a:ext cx="447141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233036"/>
                </a:solidFill>
                <a:latin typeface="Aptos"/>
              </a:defRPr>
            </a:pPr>
            <a:r>
              <a:t>Démarrer à bas 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1709928"/>
            <a:ext cx="4471416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E6C70"/>
                </a:solidFill>
                <a:latin typeface="Aptos"/>
              </a:defRPr>
            </a:pPr>
            <a:r>
              <a:t>Le pipeline part du segment ayant le plus petit Qmin.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2267712"/>
            <a:ext cx="438912" cy="438912"/>
          </a:xfrm>
          <a:prstGeom prst="roundRect">
            <a:avLst/>
          </a:prstGeom>
          <a:solidFill>
            <a:srgbClr val="007B73"/>
          </a:solidFill>
          <a:ln>
            <a:solidFill>
              <a:srgbClr val="007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340864"/>
            <a:ext cx="43891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2258568"/>
            <a:ext cx="447141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233036"/>
                </a:solidFill>
                <a:latin typeface="Aptos"/>
              </a:defRPr>
            </a:pPr>
            <a:r>
              <a:t>Évaluer les candidats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2532888"/>
            <a:ext cx="4471416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E6C70"/>
                </a:solidFill>
                <a:latin typeface="Aptos"/>
              </a:defRPr>
            </a:pPr>
            <a:r>
              <a:t>Un candidat doit se raccorder, avoir une bonne qualité et prolonger Qmax.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944" y="3090672"/>
            <a:ext cx="438912" cy="438912"/>
          </a:xfrm>
          <a:prstGeom prst="roundRect">
            <a:avLst/>
          </a:prstGeom>
          <a:solidFill>
            <a:srgbClr val="E86946"/>
          </a:solidFill>
          <a:ln>
            <a:solidFill>
              <a:srgbClr val="E86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3163824"/>
            <a:ext cx="43891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3081528"/>
            <a:ext cx="447141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233036"/>
                </a:solidFill>
                <a:latin typeface="Aptos"/>
              </a:defRPr>
            </a:pPr>
            <a:r>
              <a:t>Choisir le meilleur coût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8448" y="3355848"/>
            <a:ext cx="4471416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E6C70"/>
                </a:solidFill>
                <a:latin typeface="Aptos"/>
              </a:defRPr>
            </a:pPr>
            <a:r>
              <a:t>coût = score de raccord + qualité du segment − gain de couverture en Q.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3913632"/>
            <a:ext cx="438912" cy="438912"/>
          </a:xfrm>
          <a:prstGeom prst="roundRect">
            <a:avLst/>
          </a:prstGeom>
          <a:solidFill>
            <a:srgbClr val="F3BE40"/>
          </a:solidFill>
          <a:ln>
            <a:solidFill>
              <a:srgbClr val="F3B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" y="3986784"/>
            <a:ext cx="43891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8448" y="3904488"/>
            <a:ext cx="447141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233036"/>
                </a:solidFill>
                <a:latin typeface="Aptos"/>
              </a:defRPr>
            </a:pPr>
            <a:r>
              <a:t>Répéter jusqu’à la fin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8448" y="4178808"/>
            <a:ext cx="4471416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E6C70"/>
                </a:solidFill>
                <a:latin typeface="Aptos"/>
              </a:defRPr>
            </a:pPr>
            <a:r>
              <a:t>Les segments redondants ou sans transition valide sont rejetés.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417320"/>
            <a:ext cx="5093208" cy="4297680"/>
          </a:xfrm>
          <a:prstGeom prst="roundRect">
            <a:avLst/>
          </a:prstGeom>
          <a:solidFill>
            <a:srgbClr val="F3F6F5"/>
          </a:solidFill>
          <a:ln w="12700">
            <a:solidFill>
              <a:srgbClr val="CED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65392" y="1737360"/>
            <a:ext cx="4389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900" b="1">
                <a:solidFill>
                  <a:srgbClr val="233036"/>
                </a:solidFill>
                <a:latin typeface="Aptos"/>
              </a:defRPr>
            </a:pPr>
            <a:r>
              <a:t>Construction de la courbe finale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5392" y="2221992"/>
            <a:ext cx="20116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005C56"/>
                </a:solidFill>
                <a:latin typeface="Aptos"/>
              </a:defRPr>
            </a:pPr>
            <a:r>
              <a:t>Facteurs globaux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2542032"/>
            <a:ext cx="40233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2300" b="0">
                <a:solidFill>
                  <a:srgbClr val="005C56"/>
                </a:solidFill>
                <a:latin typeface="Aptos"/>
              </a:defRPr>
            </a:pPr>
            <a:r>
              <a:t>GB = GA × sB→A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65392" y="3017520"/>
            <a:ext cx="43891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400" b="0">
                <a:solidFill>
                  <a:srgbClr val="5E6C70"/>
                </a:solidFill>
                <a:latin typeface="Aptos"/>
              </a:defRPr>
            </a:pPr>
            <a:r>
              <a:t>I et dI sont multipliés ; dQ ne change pas.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65392" y="3566160"/>
            <a:ext cx="13716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005C56"/>
                </a:solidFill>
                <a:latin typeface="Aptos"/>
              </a:defRPr>
            </a:pPr>
            <a:r>
              <a:t>Recouvrement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65392" y="3867912"/>
            <a:ext cx="43891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5E6C70"/>
                </a:solidFill>
                <a:latin typeface="Aptos"/>
              </a:defRPr>
            </a:pPr>
            <a:r>
              <a:t>Une fraction centrale du fit est gardée pour une transition contrôlée (25 % par défaut).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65392" y="4553712"/>
            <a:ext cx="20116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005C56"/>
                </a:solidFill>
                <a:latin typeface="Aptos"/>
              </a:defRPr>
            </a:pPr>
            <a:r>
              <a:t>Échelle de référence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65392" y="4846320"/>
            <a:ext cx="43891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5E6C70"/>
                </a:solidFill>
                <a:latin typeface="Aptos"/>
              </a:defRPr>
            </a:pPr>
            <a:r>
              <a:t>scale_on fixe la configuration de référence à un facteur global égal à 1.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" y="6537960"/>
            <a:ext cx="32918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0">
                <a:solidFill>
                  <a:srgbClr val="5E6C70"/>
                </a:solidFill>
                <a:latin typeface="Aptos"/>
              </a:defRPr>
            </a:pPr>
            <a:r>
              <a:t>SCARLET | Réduction de données SANS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56848" y="6537960"/>
            <a:ext cx="2743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900" b="0">
                <a:solidFill>
                  <a:srgbClr val="5E6C70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38328"/>
            <a:ext cx="457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007B73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" y="246888"/>
            <a:ext cx="105613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700" b="1">
                <a:solidFill>
                  <a:srgbClr val="233036"/>
                </a:solidFill>
                <a:latin typeface="Aptos"/>
              </a:defRPr>
            </a:pPr>
            <a:r>
              <a:t>Message clé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868680"/>
            <a:ext cx="11183112" cy="0"/>
          </a:xfrm>
          <a:prstGeom prst="line">
            <a:avLst/>
          </a:prstGeom>
          <a:ln>
            <a:solidFill>
              <a:srgbClr val="CED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24128" y="804672"/>
            <a:ext cx="102412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E6C70"/>
                </a:solidFill>
                <a:latin typeface="Aptos"/>
              </a:defRPr>
            </a:pPr>
            <a:r>
              <a:t>Le notebook est un chemin guidé et auditable des fichiers expérimentaux aux courbes réduites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426464"/>
            <a:ext cx="10771632" cy="1005840"/>
          </a:xfrm>
          <a:prstGeom prst="roundRect">
            <a:avLst/>
          </a:prstGeom>
          <a:solidFill>
            <a:srgbClr val="007B73"/>
          </a:solidFill>
          <a:ln>
            <a:solidFill>
              <a:srgbClr val="007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719072"/>
            <a:ext cx="101955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ptos"/>
              </a:defRPr>
            </a:pPr>
            <a:r>
              <a:t>SCARLET réunit contexte expérimental, choix de correction explicites et résultats reproductibles.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2971800"/>
            <a:ext cx="365760" cy="365760"/>
          </a:xfrm>
          <a:prstGeom prst="roundRect">
            <a:avLst/>
          </a:prstGeom>
          <a:solidFill>
            <a:srgbClr val="2E88C7"/>
          </a:solidFill>
          <a:ln>
            <a:solidFill>
              <a:srgbClr val="2E8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054096"/>
            <a:ext cx="365760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2971800"/>
            <a:ext cx="3017520" cy="1920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233036"/>
                </a:solidFill>
                <a:latin typeface="Aptos"/>
              </a:defRPr>
            </a:pPr>
            <a:r>
              <a:t>Commencer par la table des runs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971800"/>
            <a:ext cx="56692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0">
                <a:solidFill>
                  <a:srgbClr val="5E6C70"/>
                </a:solidFill>
                <a:latin typeface="Aptos"/>
              </a:defRPr>
            </a:pPr>
            <a:r>
              <a:t>Valider échantillons, références et configurations avant la réduction.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3639312"/>
            <a:ext cx="365760" cy="365760"/>
          </a:xfrm>
          <a:prstGeom prst="roundRect">
            <a:avLst/>
          </a:prstGeom>
          <a:solidFill>
            <a:srgbClr val="007B73"/>
          </a:solidFill>
          <a:ln>
            <a:solidFill>
              <a:srgbClr val="007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721608"/>
            <a:ext cx="365760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3639312"/>
            <a:ext cx="3017520" cy="1920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233036"/>
                </a:solidFill>
                <a:latin typeface="Aptos"/>
              </a:defRPr>
            </a:pPr>
            <a:r>
              <a:t>Utiliser les cellules comme points de contrôle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639312"/>
            <a:ext cx="56692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0">
                <a:solidFill>
                  <a:srgbClr val="5E6C70"/>
                </a:solidFill>
                <a:latin typeface="Aptos"/>
              </a:defRPr>
            </a:pPr>
            <a:r>
              <a:t>Transmission, masques et flatfields sont visibles et révisables.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" y="4306824"/>
            <a:ext cx="365760" cy="365760"/>
          </a:xfrm>
          <a:prstGeom prst="roundRect">
            <a:avLst/>
          </a:prstGeom>
          <a:solidFill>
            <a:srgbClr val="E86946"/>
          </a:solidFill>
          <a:ln>
            <a:solidFill>
              <a:srgbClr val="E86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389120"/>
            <a:ext cx="365760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2768" y="4306824"/>
            <a:ext cx="3017520" cy="1920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233036"/>
                </a:solidFill>
                <a:latin typeface="Aptos"/>
              </a:defRPr>
            </a:pPr>
            <a:r>
              <a:t>Exécuter un pipeline standard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4306824"/>
            <a:ext cx="56692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0">
                <a:solidFill>
                  <a:srgbClr val="5E6C70"/>
                </a:solidFill>
                <a:latin typeface="Aptos"/>
              </a:defRPr>
            </a:pPr>
            <a:r>
              <a:t>Les étapes nommées traitent chaque échantillon de façon homogène et sauvegardent la provenance.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" y="4974336"/>
            <a:ext cx="365760" cy="365760"/>
          </a:xfrm>
          <a:prstGeom prst="roundRect">
            <a:avLst/>
          </a:prstGeom>
          <a:solidFill>
            <a:srgbClr val="F3BE40"/>
          </a:solidFill>
          <a:ln>
            <a:solidFill>
              <a:srgbClr val="F3B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5056631"/>
            <a:ext cx="365760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4974336"/>
            <a:ext cx="3017520" cy="1920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233036"/>
                </a:solidFill>
                <a:latin typeface="Aptos"/>
              </a:defRPr>
            </a:pPr>
            <a:r>
              <a:t>Inspecter, puis assembler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4974336"/>
            <a:ext cx="56692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0">
                <a:solidFill>
                  <a:srgbClr val="5E6C70"/>
                </a:solidFill>
                <a:latin typeface="Aptos"/>
              </a:defRPr>
            </a:pPr>
            <a:r>
              <a:t>Partir des courbes I(Q) réduites et conserver les choix d’échelle physique.</a:t>
            </a:r>
          </a:p>
        </p:txBody>
      </p:sp>
      <p:pic>
        <p:nvPicPr>
          <p:cNvPr id="24" name="Picture 23" descr="logo_scarl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8360" y="5870448"/>
            <a:ext cx="1170432" cy="117043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49808" y="6172200"/>
            <a:ext cx="5486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0">
                <a:solidFill>
                  <a:srgbClr val="5E6C70"/>
                </a:solidFill>
                <a:latin typeface="Aptos"/>
              </a:defRPr>
            </a:pPr>
            <a:r>
              <a:t>Documentation du projet : hibouchen.github.io/scarlet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" y="6537960"/>
            <a:ext cx="32918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0">
                <a:solidFill>
                  <a:srgbClr val="5E6C70"/>
                </a:solidFill>
                <a:latin typeface="Aptos"/>
              </a:defRPr>
            </a:pPr>
            <a:r>
              <a:t>SCARLET | Réduction de données SANS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56848" y="6537960"/>
            <a:ext cx="2743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900" b="0">
                <a:solidFill>
                  <a:srgbClr val="5E6C70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